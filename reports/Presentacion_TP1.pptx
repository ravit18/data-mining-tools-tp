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a y datos" id="{18de8889-ea07-8ade-0677-37f27f10252a}">
          <p14:sldIdLst>
            <p14:sldId id="256"/>
            <p14:sldId id="257"/>
            <p14:sldId id="258"/>
          </p14:sldIdLst>
        </p14:section>
        <p14:section name="Análisis exploratorio" id="{d5acb852-8660-946b-0ef6-b07b23c8d8a9}">
          <p14:sldIdLst>
            <p14:sldId id="259"/>
            <p14:sldId id="260"/>
            <p14:sldId id="261"/>
          </p14:sldIdLst>
        </p14:section>
        <p14:section name="Preparación y modelos" id="{9af2341e-9669-d845-494b-b9c8dba3359d}">
          <p14:sldIdLst>
            <p14:sldId id="262"/>
            <p14:sldId id="263"/>
            <p14:sldId id="264"/>
          </p14:sldIdLst>
        </p14:section>
        <p14:section name="Cierre" id="{11cd2fe7-ecb0-f3f3-3363-73dc78ce3853}">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33"/>
                </a:solidFill>
                <a:latin typeface="+mn-lt"/>
              </a:defRPr>
            </a:pPr>
            <a:r>
              <a:rPr sz="1400" b="0" i="0" u="none" strike="noStrike">
                <a:solidFill>
                  <a:srgbClr val="1B2A33"/>
                </a:solidFill>
                <a:latin typeface="+mn-lt"/>
              </a:rPr>
              <a:t>Suscriptores captados llamando al 20% con mayor puntaje</a:t>
            </a:r>
          </a:p>
        </c:rich>
      </c:tx>
      <c:layout/>
      <c:overlay val="0"/>
    </c:title>
    <c:autoTitleDeleted val="0"/>
    <c:plotArea>
      <c:layout/>
      <c:barChart>
        <c:barDir val="bar"/>
        <c:grouping val="clustered"/>
        <c:varyColors val="0"/>
        <c:ser>
          <c:idx val="0"/>
          <c:order val="0"/>
          <c:tx>
            <c:strRef>
              <c:f>Sheet1!$B$1</c:f>
              <c:strCache>
                <c:ptCount val="1"/>
                <c:pt idx="0">
                  <c:v>Captura en el top 20% (%)</c:v>
                </c:pt>
              </c:strCache>
            </c:strRef>
          </c:tx>
          <c:spPr>
            <a:solidFill>
              <a:srgbClr val="6B7F86"/>
            </a:solidFill>
            <a:effectLst/>
          </c:spPr>
          <c:invertIfNegative val="0"/>
          <c:dLbls>
            <c:numFmt formatCode="0.0&quot;%&quot;" sourceLinked="0"/>
            <c:txPr>
              <a:bodyPr/>
              <a:lstStyle/>
              <a:p>
                <a:pPr>
                  <a:defRPr b="0" i="0" strike="noStrike" sz="1300" u="none">
                    <a:solidFill>
                      <a:srgbClr val="1B2A33"/>
                    </a:solidFill>
                    <a:latin typeface="+mn-lt"/>
                  </a:defRPr>
                </a:pPr>
              </a:p>
            </c:txPr>
            <c:showLegendKey val="0"/>
            <c:showVal val="1"/>
            <c:showCatName val="0"/>
            <c:showSerName val="0"/>
            <c:showPercent val="0"/>
            <c:showBubbleSize val="0"/>
            <c:showLeaderLines val="0"/>
          </c:dLbls>
          <c:dPt>
            <c:idx val="0"/>
            <c:invertIfNegative val="0"/>
            <c:bubble3D val="0"/>
            <c:spPr>
              <a:solidFill>
                <a:srgbClr val="6B7F86"/>
              </a:solidFill>
              <a:effectLst/>
            </c:spPr>
          </c:dPt>
          <c:dPt>
            <c:idx val="1"/>
            <c:invertIfNegative val="0"/>
            <c:bubble3D val="0"/>
            <c:spPr>
              <a:solidFill>
                <a:srgbClr val="6B7F86"/>
              </a:solidFill>
              <a:effectLst/>
            </c:spPr>
          </c:dPt>
          <c:dPt>
            <c:idx val="2"/>
            <c:invertIfNegative val="0"/>
            <c:bubble3D val="0"/>
            <c:spPr>
              <a:solidFill>
                <a:srgbClr val="4C72B0"/>
              </a:solidFill>
              <a:effectLst/>
            </c:spPr>
          </c:dPt>
          <c:dPt>
            <c:idx val="3"/>
            <c:invertIfNegative val="0"/>
            <c:bubble3D val="0"/>
            <c:spPr>
              <a:solidFill>
                <a:srgbClr val="4C72B0"/>
              </a:solidFill>
              <a:effectLst/>
            </c:spPr>
          </c:dPt>
          <c:dPt>
            <c:idx val="4"/>
            <c:invertIfNegative val="0"/>
            <c:bubble3D val="0"/>
            <c:spPr>
              <a:solidFill>
                <a:srgbClr val="E07A2F"/>
              </a:solidFill>
              <a:effectLst/>
            </c:spPr>
          </c:dPt>
          <c:cat>
            <c:multiLvlStrRef>
              <c:f>Sheet1!$A$2:$A$6</c:f>
              <c:multiLvlStrCache>
                <c:ptCount val="5"/>
                <c:lvl>
                  <c:pt idx="0">
                    <c:v>Dummy (azar)</c:v>
                  </c:pt>
                  <c:pt idx="1">
                    <c:v>Regla de negocio</c:v>
                  </c:pt>
                  <c:pt idx="2">
                    <c:v>Regresión Logística</c:v>
                  </c:pt>
                  <c:pt idx="3">
                    <c:v>Random Forest</c:v>
                  </c:pt>
                  <c:pt idx="4">
                    <c:v>HistGradientBoosting</c:v>
                  </c:pt>
                </c:lvl>
              </c:multiLvlStrCache>
            </c:multiLvlStrRef>
          </c:cat>
          <c:val>
            <c:numRef>
              <c:f>Sheet1!$B$2:$B$6</c:f>
              <c:numCache>
                <c:formatCode>General</c:formatCode>
                <c:ptCount val="5"/>
                <c:pt idx="0">
                  <c:v>20.7</c:v>
                </c:pt>
                <c:pt idx="1">
                  <c:v>37.3</c:v>
                </c:pt>
                <c:pt idx="2">
                  <c:v>56.2</c:v>
                </c:pt>
                <c:pt idx="3">
                  <c:v>63.3</c:v>
                </c:pt>
                <c:pt idx="4">
                  <c:v>63.1</c:v>
                </c:pt>
              </c:numCache>
            </c:numRef>
          </c:val>
        </c:ser>
        <c:dLbls>
          <c:numFmt formatCode="0.0&quot;%&quot;" sourceLinked="0"/>
          <c:txPr>
            <a:bodyPr/>
            <a:lstStyle/>
            <a:p>
              <a:pPr>
                <a:defRPr b="0" i="0" strike="noStrike" sz="1300" u="none">
                  <a:solidFill>
                    <a:srgbClr val="1B2A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b"/>
        <c:majorGridlines>
          <c:spPr>
            <a:ln w="9525" cap="flat">
              <a:solidFill>
                <a:srgbClr val="DDE5E7"/>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F86"/>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33"/>
                </a:solidFill>
                <a:latin typeface="+mn-lt"/>
              </a:defRPr>
            </a:pPr>
            <a:r>
              <a:rPr sz="1400" b="0" i="0" u="none" strike="noStrike">
                <a:solidFill>
                  <a:srgbClr val="1B2A33"/>
                </a:solidFill>
                <a:latin typeface="+mn-lt"/>
              </a:rPr>
              <a:t>Captura en el top 20% (%)</a:t>
            </a:r>
          </a:p>
        </c:rich>
      </c:tx>
      <c:layout/>
      <c:overlay val="0"/>
    </c:title>
    <c:autoTitleDeleted val="0"/>
    <c:plotArea>
      <c:layout/>
      <c:barChart>
        <c:barDir val="col"/>
        <c:grouping val="clustered"/>
        <c:varyColors val="0"/>
        <c:ser>
          <c:idx val="0"/>
          <c:order val="0"/>
          <c:tx>
            <c:strRef>
              <c:f>Sheet1!$B$1</c:f>
              <c:strCache>
                <c:ptCount val="1"/>
                <c:pt idx="0">
                  <c:v>Split aleatorio</c:v>
                </c:pt>
              </c:strCache>
            </c:strRef>
          </c:tx>
          <c:spPr>
            <a:solidFill>
              <a:srgbClr val="4C72B0"/>
            </a:solidFill>
            <a:effectLst/>
          </c:spPr>
          <c:invertIfNegative val="0"/>
          <c:dLbls>
            <c:numFmt formatCode="0.0" sourceLinked="0"/>
            <c:txPr>
              <a:bodyPr/>
              <a:lstStyle/>
              <a:p>
                <a:pPr>
                  <a:defRPr b="0" i="0" strike="noStrike" sz="1300" u="none">
                    <a:solidFill>
                      <a:srgbClr val="1B2A33"/>
                    </a:solidFill>
                    <a:latin typeface="+mn-lt"/>
                  </a:defRPr>
                </a:pPr>
              </a:p>
            </c:txPr>
            <c:showLegendKey val="0"/>
            <c:showVal val="1"/>
            <c:showCatName val="0"/>
            <c:showSerName val="0"/>
            <c:showPercent val="0"/>
            <c:showBubbleSize val="0"/>
            <c:showLeaderLines val="0"/>
          </c:dLbls>
          <c:cat>
            <c:multiLvlStrRef>
              <c:f>Sheet1!$A$2:$A$5</c:f>
              <c:multiLvlStrCache>
                <c:ptCount val="4"/>
                <c:lvl>
                  <c:pt idx="0">
                    <c:v>Regla de negocio</c:v>
                  </c:pt>
                  <c:pt idx="1">
                    <c:v>Regresión Logística</c:v>
                  </c:pt>
                  <c:pt idx="2">
                    <c:v>Random Forest</c:v>
                  </c:pt>
                  <c:pt idx="3">
                    <c:v>HistGradientBoosting</c:v>
                  </c:pt>
                </c:lvl>
              </c:multiLvlStrCache>
            </c:multiLvlStrRef>
          </c:cat>
          <c:val>
            <c:numRef>
              <c:f>Sheet1!$B$2:$B$5</c:f>
              <c:numCache>
                <c:formatCode>General</c:formatCode>
                <c:ptCount val="4"/>
                <c:pt idx="0">
                  <c:v>37.3</c:v>
                </c:pt>
                <c:pt idx="1">
                  <c:v>56.2</c:v>
                </c:pt>
                <c:pt idx="2">
                  <c:v>63.3</c:v>
                </c:pt>
                <c:pt idx="3">
                  <c:v>63.1</c:v>
                </c:pt>
              </c:numCache>
            </c:numRef>
          </c:val>
        </c:ser>
        <c:ser>
          <c:idx val="1"/>
          <c:order val="1"/>
          <c:tx>
            <c:strRef>
              <c:f>Sheet1!$C$1</c:f>
              <c:strCache>
                <c:ptCount val="1"/>
                <c:pt idx="0">
                  <c:v>Prueba temporal</c:v>
                </c:pt>
              </c:strCache>
            </c:strRef>
          </c:tx>
          <c:spPr>
            <a:solidFill>
              <a:srgbClr val="B8402F"/>
            </a:solidFill>
            <a:effectLst/>
          </c:spPr>
          <c:invertIfNegative val="0"/>
          <c:dLbls>
            <c:numFmt formatCode="0.0" sourceLinked="0"/>
            <c:txPr>
              <a:bodyPr/>
              <a:lstStyle/>
              <a:p>
                <a:pPr>
                  <a:defRPr b="0" i="0" strike="noStrike" sz="1300" u="none">
                    <a:solidFill>
                      <a:srgbClr val="1B2A33"/>
                    </a:solidFill>
                    <a:latin typeface="+mn-lt"/>
                  </a:defRPr>
                </a:pPr>
              </a:p>
            </c:txPr>
            <c:showLegendKey val="0"/>
            <c:showVal val="1"/>
            <c:showCatName val="0"/>
            <c:showSerName val="0"/>
            <c:showPercent val="0"/>
            <c:showBubbleSize val="0"/>
            <c:showLeaderLines val="0"/>
          </c:dLbls>
          <c:cat>
            <c:multiLvlStrRef>
              <c:f>Sheet1!$A$2:$A$5</c:f>
              <c:multiLvlStrCache>
                <c:ptCount val="4"/>
                <c:lvl>
                  <c:pt idx="0">
                    <c:v>Regla de negocio</c:v>
                  </c:pt>
                  <c:pt idx="1">
                    <c:v>Regresión Logística</c:v>
                  </c:pt>
                  <c:pt idx="2">
                    <c:v>Random Forest</c:v>
                  </c:pt>
                  <c:pt idx="3">
                    <c:v>HistGradientBoosting</c:v>
                  </c:pt>
                </c:lvl>
              </c:multiLvlStrCache>
            </c:multiLvlStrRef>
          </c:cat>
          <c:val>
            <c:numRef>
              <c:f>Sheet1!$C$2:$C$5</c:f>
              <c:numCache>
                <c:formatCode>General</c:formatCode>
                <c:ptCount val="4"/>
                <c:pt idx="0">
                  <c:v>32.4</c:v>
                </c:pt>
                <c:pt idx="1">
                  <c:v>36.5</c:v>
                </c:pt>
                <c:pt idx="2">
                  <c:v>31.8</c:v>
                </c:pt>
                <c:pt idx="3">
                  <c:v>34</c:v>
                </c:pt>
              </c:numCache>
            </c:numRef>
          </c:val>
        </c:ser>
        <c:dLbls>
          <c:numFmt formatCode="0.0" sourceLinked="0"/>
          <c:txPr>
            <a:bodyPr/>
            <a:lstStyle/>
            <a:p>
              <a:pPr>
                <a:defRPr b="0" i="0" strike="noStrike" sz="1300" u="none">
                  <a:solidFill>
                    <a:srgbClr val="1B2A33"/>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9525" cap="flat">
              <a:solidFill>
                <a:srgbClr val="DDE5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F86"/>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300">
              <a:solidFill>
                <a:srgbClr val="1B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Ricardo. Presentar el tema en una frase: ordenar la lista de clientes de un banco para llamar primero a los que tienen más probabilidad de aceptar un depósito a plazo.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Ricardo. Unidad de análisis: un contacto de campaña. Es clasificación binaria desbalanceada usada como ranking: importa el orden de los puntajes, no el umbral 0.5. El 20% es un supuesto de capacidad del call center.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Ricardo. Fuente y licencia documentadas. Variable objetivo y: suscribió o no. Mencionar que day_of_week en UCI en realidad es el día del mes (1 a 31) y por eso se renombró a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Ricardo. Lo que muestran los datos: las cifras de las tarjetas. Interpretación: la U de la edad justifica comparar un modelo lineal con árboles. El historial de éxito justifica usar una regla de negocio como baseline. Son asociaciones en clientes que el banco ya eligió llamar, no causas.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Ricardo. El archivo está ordenado por fecha, así que la posición de la fila sirve de reloj. Hipótesis: campañas masivas en 2008 y campañas selectivas en 2010; el dataset no lo documenta. Esto condiciona la evaluación que se muestra más adelante.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Ricardo. Los propios autores del dataset advierten esto. La captura en el top 20% pasaría de 63.1% a 86.2% si se incluyera. Aquí cierra la primera mitad; pasa la palabra a Aaron.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Aaron. Todo el preprocesamiento vive en src/features.py. Como es un solo Pipeline, fit con train ajusta las transformaciones solo con esos datos y el mismo objeto es el que carga la aplicación. Test se reserva porque en el TF1 se ajustarán hiperparámetros.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Aaron. Métricas: PR-AUC para comparar modelos (0.478 boosting, 0.465 Random Forest, 0.416 logística; al azar 0.117) y captura en el top 20% como criterio de negocio. No usamos accuracy: decir siempre 'no' da 88.3%. Con el umbral del top 20%: precisión 36.9% y recall 63.1%. Hiperparámetros sin ajustar.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Aaron. Este es el resultado más importante del TP1: el criterio se cumple con split aleatorio y no se cumple cuando se simula el uso real. La ROC-AUC baja de 0.80 a 0.68. La regresión logística es la que mejor resiste, lo que sugiere que los árboles se ajustan demasiado al periodo. Además, sin month ni day la captura en validación baja de 63.1% a 55.9%.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Aaron. Cada actividad del plan sale de un hallazgo concreto del TP1, sobre todo de la prueba temporal. La aplicación en Streamlit ya está desplegada como avance.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Ambos. Cerrar con las tres ideas y abrir preguntas. Tener abierto el repositorio y la aplicación por si el docente pide verificar un resultado. Plan B si falla la conexión: mostrar los notebooks ejecutados en GitHub o el PDF del 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0B3C4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474720"/>
            <a:ext cx="10698480" cy="73152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Data Mining Tools (CC209) · Trabajo Parcial</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rgbClr val="0B3C4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github.com/Ravit18/data-mining-tools-tp" TargetMode="External"/><Relationship Id="rId2" Type="http://schemas.openxmlformats.org/officeDocument/2006/relationships/hyperlink" Target="https://data-mining-tools-tp.streamlit.app/" TargetMode="External"/><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554480"/>
          </a:xfrm>
          <a:prstGeom prst="rect">
            <a:avLst/>
          </a:prstGeom>
          <a:noFill/>
          <a:ln/>
        </p:spPr>
        <p:txBody>
          <a:bodyPr wrap="square" lIns="0" tIns="0" rIns="0" bIns="0" rtlCol="0" anchor="t"/>
          <a:lstStyle/>
          <a:p>
            <a:pPr algn="l" indent="0" marL="0">
              <a:buNone/>
            </a:pPr>
            <a:r>
              <a:rPr lang="en-US" sz="4400" b="1" dirty="0">
                <a:solidFill>
                  <a:schemeClr val="bg1"/>
                </a:solidFill>
              </a:rPr>
              <a:t>Priorización de clientes para depósitos a plazo</a:t>
            </a:r>
            <a:endParaRPr lang="en-US" sz="4400" dirty="0"/>
          </a:p>
        </p:txBody>
      </p:sp>
      <p:sp>
        <p:nvSpPr>
          <p:cNvPr id="3" name="Text 0"/>
          <p:cNvSpPr/>
          <p:nvPr>
            <p:ph idx="101" type="body" hasCustomPrompt="1"/>
          </p:nvPr>
        </p:nvSpPr>
        <p:spPr>
          <a:xfrm>
            <a:off x="731520" y="3474720"/>
            <a:ext cx="10698480" cy="731520"/>
          </a:xfrm>
          <a:prstGeom prst="rect">
            <a:avLst/>
          </a:prstGeom>
          <a:noFill/>
          <a:ln/>
        </p:spPr>
        <p:txBody>
          <a:bodyPr wrap="square" lIns="0" tIns="0" rIns="0" bIns="0" rtlCol="0" anchor="t"/>
          <a:lstStyle/>
          <a:p>
            <a:pPr algn="l" indent="0" marL="0">
              <a:buNone/>
            </a:pPr>
            <a:r>
              <a:rPr lang="en-US" sz="2200" dirty="0">
                <a:solidFill>
                  <a:schemeClr val="bg2"/>
                </a:solidFill>
              </a:rPr>
              <a:t>¿A quién llamar primero en una campaña de telemarketing bancario?</a:t>
            </a:r>
            <a:endParaRPr lang="en-US" sz="2200" dirty="0"/>
          </a:p>
        </p:txBody>
      </p:sp>
      <p:sp>
        <p:nvSpPr>
          <p:cNvPr id="4" name="texto-1"/>
          <p:cNvSpPr txBox="1"/>
          <p:nvPr/>
        </p:nvSpPr>
        <p:spPr>
          <a:xfrm>
            <a:off x="731520" y="1097280"/>
            <a:ext cx="1069848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TRABAJO PARCIAL · DATA MINING TOOLS (CC209) · SECCIÓN 16623</a:t>
            </a:r>
            <a:endParaRPr lang="en-US" sz="1400" dirty="0"/>
          </a:p>
        </p:txBody>
      </p:sp>
      <p:sp>
        <p:nvSpPr>
          <p:cNvPr id="5" name="texto-2"/>
          <p:cNvSpPr txBox="1"/>
          <p:nvPr/>
        </p:nvSpPr>
        <p:spPr>
          <a:xfrm>
            <a:off x="731520" y="4846320"/>
            <a:ext cx="10698480" cy="1188720"/>
          </a:xfrm>
          <a:prstGeom prst="rect">
            <a:avLst/>
          </a:prstGeom>
          <a:noFill/>
          <a:ln/>
        </p:spPr>
        <p:txBody>
          <a:bodyPr wrap="square" lIns="0" tIns="0" rIns="0" bIns="0" rtlCol="0" anchor="t"/>
          <a:lstStyle/>
          <a:p>
            <a:pPr indent="0" marL="0">
              <a:spcAft>
                <a:spcPts val="400"/>
              </a:spcAft>
              <a:buNone/>
            </a:pPr>
            <a:r>
              <a:rPr lang="en-US" sz="1600" dirty="0">
                <a:solidFill>
                  <a:schemeClr val="bg2"/>
                </a:solidFill>
              </a:rPr>
              <a:t>Ricardo Victor Ambrocio Tantalean (U202315214)</a:t>
            </a:r>
            <a:endParaRPr lang="en-US" sz="1600" dirty="0"/>
          </a:p>
          <a:p>
            <a:pPr indent="0" marL="0">
              <a:spcAft>
                <a:spcPts val="400"/>
              </a:spcAft>
              <a:buNone/>
            </a:pPr>
            <a:r>
              <a:rPr lang="en-US" sz="1600" dirty="0">
                <a:solidFill>
                  <a:schemeClr val="bg2"/>
                </a:solidFill>
              </a:rPr>
              <a:t>Aaron Alvaro Felices Vallejos (U202315164)</a:t>
            </a:r>
            <a:endParaRPr lang="en-US" sz="1600" dirty="0"/>
          </a:p>
          <a:p>
            <a:pPr indent="0" marL="0">
              <a:spcAft>
                <a:spcPts val="400"/>
              </a:spcAft>
              <a:buNone/>
            </a:pPr>
            <a:r>
              <a:rPr lang="en-US" sz="1600" dirty="0">
                <a:solidFill>
                  <a:schemeClr val="bg2"/>
                </a:solidFill>
              </a:rPr>
              <a:t>Docente: Carlos Fernando Montoya Cubas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000" b="1" dirty="0">
                <a:solidFill>
                  <a:schemeClr val="tx2"/>
                </a:solidFill>
              </a:rPr>
              <a:t>Casi 9 de cada 10 llamadas no terminan en venta</a:t>
            </a:r>
            <a:endParaRPr lang="en-US" sz="3000" dirty="0"/>
          </a:p>
        </p:txBody>
      </p:sp>
      <p:sp>
        <p:nvSpPr>
          <p:cNvPr id="3" name="tarjeta-3"/>
          <p:cNvSpPr/>
          <p:nvPr/>
        </p:nvSpPr>
        <p:spPr>
          <a:xfrm>
            <a:off x="548640" y="1554480"/>
            <a:ext cx="3840480" cy="4480560"/>
          </a:xfrm>
          <a:prstGeom prst="roundRect">
            <a:avLst>
              <a:gd name="adj" fmla="val 1905"/>
            </a:avLst>
          </a:prstGeom>
          <a:solidFill>
            <a:schemeClr val="tx2"/>
          </a:solidFill>
          <a:ln/>
        </p:spPr>
      </p:sp>
      <p:sp>
        <p:nvSpPr>
          <p:cNvPr id="4" name="texto-4"/>
          <p:cNvSpPr txBox="1"/>
          <p:nvPr/>
        </p:nvSpPr>
        <p:spPr>
          <a:xfrm>
            <a:off x="822960" y="1920240"/>
            <a:ext cx="3291840" cy="1371600"/>
          </a:xfrm>
          <a:prstGeom prst="rect">
            <a:avLst/>
          </a:prstGeom>
          <a:noFill/>
          <a:ln/>
        </p:spPr>
        <p:txBody>
          <a:bodyPr wrap="square" lIns="0" tIns="0" rIns="0" bIns="0" rtlCol="0" anchor="ctr"/>
          <a:lstStyle/>
          <a:p>
            <a:pPr indent="0" marL="0">
              <a:buNone/>
            </a:pPr>
            <a:r>
              <a:rPr lang="en-US" sz="7200" b="1" dirty="0">
                <a:solidFill>
                  <a:schemeClr val="accent2"/>
                </a:solidFill>
                <a:latin typeface="Cambria" pitchFamily="34" charset="0"/>
                <a:ea typeface="Cambria" pitchFamily="34" charset="-122"/>
                <a:cs typeface="Cambria" pitchFamily="34" charset="-120"/>
              </a:rPr>
              <a:t>11.7%</a:t>
            </a:r>
            <a:endParaRPr lang="en-US" sz="7200" dirty="0"/>
          </a:p>
        </p:txBody>
      </p:sp>
      <p:sp>
        <p:nvSpPr>
          <p:cNvPr id="5" name="texto-5"/>
          <p:cNvSpPr txBox="1"/>
          <p:nvPr/>
        </p:nvSpPr>
        <p:spPr>
          <a:xfrm>
            <a:off x="822960" y="3383280"/>
            <a:ext cx="3291840" cy="822960"/>
          </a:xfrm>
          <a:prstGeom prst="rect">
            <a:avLst/>
          </a:prstGeom>
          <a:noFill/>
          <a:ln/>
        </p:spPr>
        <p:txBody>
          <a:bodyPr wrap="square" lIns="0" tIns="0" rIns="0" bIns="0" rtlCol="0" anchor="t"/>
          <a:lstStyle/>
          <a:p>
            <a:pPr indent="0" marL="0">
              <a:buNone/>
            </a:pPr>
            <a:r>
              <a:rPr lang="en-US" sz="1800" dirty="0">
                <a:solidFill>
                  <a:schemeClr val="bg1"/>
                </a:solidFill>
              </a:rPr>
              <a:t>de los contactos suscribe el depósito a plazo</a:t>
            </a:r>
            <a:endParaRPr lang="en-US" sz="1800" dirty="0"/>
          </a:p>
        </p:txBody>
      </p:sp>
      <p:sp>
        <p:nvSpPr>
          <p:cNvPr id="6" name="texto-6"/>
          <p:cNvSpPr txBox="1"/>
          <p:nvPr/>
        </p:nvSpPr>
        <p:spPr>
          <a:xfrm>
            <a:off x="822960" y="4480560"/>
            <a:ext cx="3291840" cy="1188720"/>
          </a:xfrm>
          <a:prstGeom prst="rect">
            <a:avLst/>
          </a:prstGeom>
          <a:noFill/>
          <a:ln/>
        </p:spPr>
        <p:txBody>
          <a:bodyPr wrap="square" lIns="0" tIns="0" rIns="0" bIns="0" rtlCol="0" anchor="t"/>
          <a:lstStyle/>
          <a:p>
            <a:pPr indent="0" marL="0">
              <a:buNone/>
            </a:pPr>
            <a:r>
              <a:rPr lang="en-US" sz="1500" dirty="0">
                <a:solidFill>
                  <a:schemeClr val="bg2"/>
                </a:solidFill>
              </a:rPr>
              <a:t>Llamar a todos por igual gasta tiempo de agentes y cansa al cliente.</a:t>
            </a:r>
            <a:endParaRPr lang="en-US" sz="1500" dirty="0"/>
          </a:p>
        </p:txBody>
      </p:sp>
      <p:sp>
        <p:nvSpPr>
          <p:cNvPr id="7" name="texto-7"/>
          <p:cNvSpPr txBox="1"/>
          <p:nvPr/>
        </p:nvSpPr>
        <p:spPr>
          <a:xfrm>
            <a:off x="4754880" y="1554480"/>
            <a:ext cx="6858000" cy="365760"/>
          </a:xfrm>
          <a:prstGeom prst="rect">
            <a:avLst/>
          </a:prstGeom>
          <a:noFill/>
          <a:ln/>
        </p:spPr>
        <p:txBody>
          <a:bodyPr wrap="square" lIns="0" tIns="0" rIns="0" bIns="0" rtlCol="0" anchor="t"/>
          <a:lstStyle/>
          <a:p>
            <a:pPr indent="0" marL="0">
              <a:buNone/>
            </a:pPr>
            <a:r>
              <a:rPr lang="en-US" sz="1400" b="1" dirty="0">
                <a:solidFill>
                  <a:schemeClr val="accent1"/>
                </a:solidFill>
              </a:rPr>
              <a:t>Pregunta del proyecto</a:t>
            </a:r>
            <a:endParaRPr lang="en-US" sz="1400" dirty="0"/>
          </a:p>
        </p:txBody>
      </p:sp>
      <p:sp>
        <p:nvSpPr>
          <p:cNvPr id="8" name="texto-8"/>
          <p:cNvSpPr txBox="1"/>
          <p:nvPr/>
        </p:nvSpPr>
        <p:spPr>
          <a:xfrm>
            <a:off x="4754880" y="1965960"/>
            <a:ext cx="6858000" cy="1371600"/>
          </a:xfrm>
          <a:prstGeom prst="rect">
            <a:avLst/>
          </a:prstGeom>
          <a:noFill/>
          <a:ln/>
        </p:spPr>
        <p:txBody>
          <a:bodyPr wrap="square" lIns="0" tIns="0" rIns="0" bIns="0" rtlCol="0" anchor="t"/>
          <a:lstStyle/>
          <a:p>
            <a:pPr indent="0" marL="0">
              <a:buNone/>
            </a:pPr>
            <a:r>
              <a:rPr lang="en-US" sz="1800" dirty="0">
                <a:solidFill>
                  <a:schemeClr val="tx1"/>
                </a:solidFill>
              </a:rPr>
              <a:t>Con la información disponible antes de llamar, ¿se puede ordenar a los clientes de modo que llamando solo al 20% con mayor puntaje se alcance al menos a la mitad de los que suscribirían?</a:t>
            </a:r>
            <a:endParaRPr lang="en-US" sz="1800" dirty="0"/>
          </a:p>
        </p:txBody>
      </p:sp>
      <p:sp>
        <p:nvSpPr>
          <p:cNvPr id="9" name="texto-9"/>
          <p:cNvSpPr txBox="1"/>
          <p:nvPr/>
        </p:nvSpPr>
        <p:spPr>
          <a:xfrm>
            <a:off x="4754880" y="3566160"/>
            <a:ext cx="6858000" cy="365760"/>
          </a:xfrm>
          <a:prstGeom prst="rect">
            <a:avLst/>
          </a:prstGeom>
          <a:noFill/>
          <a:ln/>
        </p:spPr>
        <p:txBody>
          <a:bodyPr wrap="square" lIns="0" tIns="0" rIns="0" bIns="0" rtlCol="0" anchor="t"/>
          <a:lstStyle/>
          <a:p>
            <a:pPr indent="0" marL="0">
              <a:buNone/>
            </a:pPr>
            <a:r>
              <a:rPr lang="en-US" sz="1400" b="1" dirty="0">
                <a:solidFill>
                  <a:schemeClr val="accent1"/>
                </a:solidFill>
              </a:rPr>
              <a:t>Criterios de éxito, fijados antes de modelar</a:t>
            </a:r>
            <a:endParaRPr lang="en-US" sz="1400" dirty="0"/>
          </a:p>
        </p:txBody>
      </p:sp>
      <p:sp>
        <p:nvSpPr>
          <p:cNvPr id="10" name="numero-10"/>
          <p:cNvSpPr/>
          <p:nvPr/>
        </p:nvSpPr>
        <p:spPr>
          <a:xfrm>
            <a:off x="4754880" y="4023360"/>
            <a:ext cx="457200" cy="457200"/>
          </a:xfrm>
          <a:prstGeom prst="ellipse">
            <a:avLst/>
          </a:prstGeom>
          <a:solidFill>
            <a:schemeClr val="accent1"/>
          </a:solidFill>
          <a:ln/>
        </p:spPr>
      </p:sp>
      <p:sp>
        <p:nvSpPr>
          <p:cNvPr id="11" name="texto-11"/>
          <p:cNvSpPr txBox="1"/>
          <p:nvPr/>
        </p:nvSpPr>
        <p:spPr>
          <a:xfrm>
            <a:off x="4754880" y="4023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2" name="texto-12"/>
          <p:cNvSpPr txBox="1"/>
          <p:nvPr/>
        </p:nvSpPr>
        <p:spPr>
          <a:xfrm>
            <a:off x="5394960" y="4023360"/>
            <a:ext cx="6217920" cy="457200"/>
          </a:xfrm>
          <a:prstGeom prst="rect">
            <a:avLst/>
          </a:prstGeom>
          <a:noFill/>
          <a:ln/>
        </p:spPr>
        <p:txBody>
          <a:bodyPr wrap="square" lIns="0" tIns="0" rIns="0" bIns="0" rtlCol="0" anchor="ctr"/>
          <a:lstStyle/>
          <a:p>
            <a:pPr indent="0" marL="0">
              <a:buNone/>
            </a:pPr>
            <a:r>
              <a:rPr lang="en-US" sz="1600" dirty="0">
                <a:solidFill>
                  <a:schemeClr val="tx1"/>
                </a:solidFill>
              </a:rPr>
              <a:t>Captar ≥ 50% de los suscriptores llamando al 20% de la lista (lift ≥ 2.5)</a:t>
            </a:r>
            <a:endParaRPr lang="en-US" sz="1600" dirty="0"/>
          </a:p>
        </p:txBody>
      </p:sp>
      <p:sp>
        <p:nvSpPr>
          <p:cNvPr id="13" name="numero-13"/>
          <p:cNvSpPr/>
          <p:nvPr/>
        </p:nvSpPr>
        <p:spPr>
          <a:xfrm>
            <a:off x="4754880" y="4709160"/>
            <a:ext cx="457200" cy="457200"/>
          </a:xfrm>
          <a:prstGeom prst="ellipse">
            <a:avLst/>
          </a:prstGeom>
          <a:solidFill>
            <a:schemeClr val="accent1"/>
          </a:solidFill>
          <a:ln/>
        </p:spPr>
      </p:sp>
      <p:sp>
        <p:nvSpPr>
          <p:cNvPr id="14" name="texto-14"/>
          <p:cNvSpPr txBox="1"/>
          <p:nvPr/>
        </p:nvSpPr>
        <p:spPr>
          <a:xfrm>
            <a:off x="4754880" y="47091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5" name="texto-15"/>
          <p:cNvSpPr txBox="1"/>
          <p:nvPr/>
        </p:nvSpPr>
        <p:spPr>
          <a:xfrm>
            <a:off x="5394960" y="4709160"/>
            <a:ext cx="6217920" cy="457200"/>
          </a:xfrm>
          <a:prstGeom prst="rect">
            <a:avLst/>
          </a:prstGeom>
          <a:noFill/>
          <a:ln/>
        </p:spPr>
        <p:txBody>
          <a:bodyPr wrap="square" lIns="0" tIns="0" rIns="0" bIns="0" rtlCol="0" anchor="ctr"/>
          <a:lstStyle/>
          <a:p>
            <a:pPr indent="0" marL="0">
              <a:buNone/>
            </a:pPr>
            <a:r>
              <a:rPr lang="en-US" sz="1600" dirty="0">
                <a:solidFill>
                  <a:schemeClr val="tx1"/>
                </a:solidFill>
              </a:rPr>
              <a:t>Superar a una regla de negocio simple, no solo al azar</a:t>
            </a:r>
            <a:endParaRPr lang="en-US" sz="1600" dirty="0"/>
          </a:p>
        </p:txBody>
      </p:sp>
      <p:sp>
        <p:nvSpPr>
          <p:cNvPr id="16" name="numero-16"/>
          <p:cNvSpPr/>
          <p:nvPr/>
        </p:nvSpPr>
        <p:spPr>
          <a:xfrm>
            <a:off x="4754880" y="5394960"/>
            <a:ext cx="457200" cy="457200"/>
          </a:xfrm>
          <a:prstGeom prst="ellipse">
            <a:avLst/>
          </a:prstGeom>
          <a:solidFill>
            <a:schemeClr val="accent1"/>
          </a:solidFill>
          <a:ln/>
        </p:spPr>
      </p:sp>
      <p:sp>
        <p:nvSpPr>
          <p:cNvPr id="17" name="texto-17"/>
          <p:cNvSpPr txBox="1"/>
          <p:nvPr/>
        </p:nvSpPr>
        <p:spPr>
          <a:xfrm>
            <a:off x="4754880" y="5394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o-18"/>
          <p:cNvSpPr txBox="1"/>
          <p:nvPr/>
        </p:nvSpPr>
        <p:spPr>
          <a:xfrm>
            <a:off x="5394960" y="5394960"/>
            <a:ext cx="6217920" cy="457200"/>
          </a:xfrm>
          <a:prstGeom prst="rect">
            <a:avLst/>
          </a:prstGeom>
          <a:noFill/>
          <a:ln/>
        </p:spPr>
        <p:txBody>
          <a:bodyPr wrap="square" lIns="0" tIns="0" rIns="0" bIns="0" rtlCol="0" anchor="ctr"/>
          <a:lstStyle/>
          <a:p>
            <a:pPr indent="0" marL="0">
              <a:buNone/>
            </a:pPr>
            <a:r>
              <a:rPr lang="en-US" sz="1600" dirty="0">
                <a:solidFill>
                  <a:schemeClr val="tx1"/>
                </a:solidFill>
              </a:rPr>
              <a:t>No usar información que se conozca después de la llamada</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000" b="1" dirty="0">
                <a:solidFill>
                  <a:schemeClr val="tx2"/>
                </a:solidFill>
              </a:rPr>
              <a:t>El dataset: contactos reales de un banco portugués</a:t>
            </a:r>
            <a:endParaRPr lang="en-US" sz="3000" dirty="0"/>
          </a:p>
        </p:txBody>
      </p:sp>
      <p:sp>
        <p:nvSpPr>
          <p:cNvPr id="3" name="tarjeta-19"/>
          <p:cNvSpPr/>
          <p:nvPr/>
        </p:nvSpPr>
        <p:spPr>
          <a:xfrm>
            <a:off x="548640" y="1554480"/>
            <a:ext cx="2560320" cy="1828800"/>
          </a:xfrm>
          <a:prstGeom prst="roundRect">
            <a:avLst>
              <a:gd name="adj" fmla="val 4000"/>
            </a:avLst>
          </a:prstGeom>
          <a:solidFill>
            <a:schemeClr val="bg2"/>
          </a:solidFill>
          <a:ln/>
        </p:spPr>
      </p:sp>
      <p:sp>
        <p:nvSpPr>
          <p:cNvPr id="4" name="texto-20"/>
          <p:cNvSpPr txBox="1"/>
          <p:nvPr/>
        </p:nvSpPr>
        <p:spPr>
          <a:xfrm>
            <a:off x="731520" y="1691640"/>
            <a:ext cx="2194560" cy="950976"/>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45,211</a:t>
            </a:r>
            <a:endParaRPr lang="en-US" sz="3000" dirty="0"/>
          </a:p>
        </p:txBody>
      </p:sp>
      <p:sp>
        <p:nvSpPr>
          <p:cNvPr id="5" name="texto-21"/>
          <p:cNvSpPr txBox="1"/>
          <p:nvPr/>
        </p:nvSpPr>
        <p:spPr>
          <a:xfrm>
            <a:off x="731520" y="2642616"/>
            <a:ext cx="2194560" cy="649224"/>
          </a:xfrm>
          <a:prstGeom prst="rect">
            <a:avLst/>
          </a:prstGeom>
          <a:noFill/>
          <a:ln/>
        </p:spPr>
        <p:txBody>
          <a:bodyPr wrap="square" lIns="0" tIns="0" rIns="0" bIns="0" rtlCol="0" anchor="t"/>
          <a:lstStyle/>
          <a:p>
            <a:pPr indent="0" marL="0">
              <a:buNone/>
            </a:pPr>
            <a:r>
              <a:rPr lang="en-US" sz="1400" dirty="0">
                <a:solidFill>
                  <a:schemeClr val="tx1"/>
                </a:solidFill>
              </a:rPr>
              <a:t>contactos de campaña</a:t>
            </a:r>
            <a:endParaRPr lang="en-US" sz="1400" dirty="0"/>
          </a:p>
        </p:txBody>
      </p:sp>
      <p:sp>
        <p:nvSpPr>
          <p:cNvPr id="6" name="tarjeta-22"/>
          <p:cNvSpPr/>
          <p:nvPr/>
        </p:nvSpPr>
        <p:spPr>
          <a:xfrm>
            <a:off x="3383280" y="1554480"/>
            <a:ext cx="2560320" cy="1828800"/>
          </a:xfrm>
          <a:prstGeom prst="roundRect">
            <a:avLst>
              <a:gd name="adj" fmla="val 4000"/>
            </a:avLst>
          </a:prstGeom>
          <a:solidFill>
            <a:schemeClr val="bg2"/>
          </a:solidFill>
          <a:ln/>
        </p:spPr>
      </p:sp>
      <p:sp>
        <p:nvSpPr>
          <p:cNvPr id="7" name="texto-23"/>
          <p:cNvSpPr txBox="1"/>
          <p:nvPr/>
        </p:nvSpPr>
        <p:spPr>
          <a:xfrm>
            <a:off x="3566160" y="1691640"/>
            <a:ext cx="2194560" cy="950976"/>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16</a:t>
            </a:r>
            <a:endParaRPr lang="en-US" sz="3000" dirty="0"/>
          </a:p>
        </p:txBody>
      </p:sp>
      <p:sp>
        <p:nvSpPr>
          <p:cNvPr id="8" name="texto-24"/>
          <p:cNvSpPr txBox="1"/>
          <p:nvPr/>
        </p:nvSpPr>
        <p:spPr>
          <a:xfrm>
            <a:off x="3566160" y="2642616"/>
            <a:ext cx="2194560" cy="649224"/>
          </a:xfrm>
          <a:prstGeom prst="rect">
            <a:avLst/>
          </a:prstGeom>
          <a:noFill/>
          <a:ln/>
        </p:spPr>
        <p:txBody>
          <a:bodyPr wrap="square" lIns="0" tIns="0" rIns="0" bIns="0" rtlCol="0" anchor="t"/>
          <a:lstStyle/>
          <a:p>
            <a:pPr indent="0" marL="0">
              <a:buNone/>
            </a:pPr>
            <a:r>
              <a:rPr lang="en-US" sz="1400" dirty="0">
                <a:solidFill>
                  <a:schemeClr val="tx1"/>
                </a:solidFill>
              </a:rPr>
              <a:t>variables de entrada: perfil, finanzas e historial</a:t>
            </a:r>
            <a:endParaRPr lang="en-US" sz="1400" dirty="0"/>
          </a:p>
        </p:txBody>
      </p:sp>
      <p:sp>
        <p:nvSpPr>
          <p:cNvPr id="9" name="tarjeta-25"/>
          <p:cNvSpPr/>
          <p:nvPr/>
        </p:nvSpPr>
        <p:spPr>
          <a:xfrm>
            <a:off x="6217920" y="1554480"/>
            <a:ext cx="2560320" cy="1828800"/>
          </a:xfrm>
          <a:prstGeom prst="roundRect">
            <a:avLst>
              <a:gd name="adj" fmla="val 4000"/>
            </a:avLst>
          </a:prstGeom>
          <a:solidFill>
            <a:schemeClr val="bg2"/>
          </a:solidFill>
          <a:ln/>
        </p:spPr>
      </p:sp>
      <p:sp>
        <p:nvSpPr>
          <p:cNvPr id="10" name="texto-26"/>
          <p:cNvSpPr txBox="1"/>
          <p:nvPr/>
        </p:nvSpPr>
        <p:spPr>
          <a:xfrm>
            <a:off x="6400800" y="1691640"/>
            <a:ext cx="2194560" cy="950976"/>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2008-2010</a:t>
            </a:r>
            <a:endParaRPr lang="en-US" sz="3000" dirty="0"/>
          </a:p>
        </p:txBody>
      </p:sp>
      <p:sp>
        <p:nvSpPr>
          <p:cNvPr id="11" name="texto-27"/>
          <p:cNvSpPr txBox="1"/>
          <p:nvPr/>
        </p:nvSpPr>
        <p:spPr>
          <a:xfrm>
            <a:off x="6400800" y="2642616"/>
            <a:ext cx="2194560" cy="649224"/>
          </a:xfrm>
          <a:prstGeom prst="rect">
            <a:avLst/>
          </a:prstGeom>
          <a:noFill/>
          <a:ln/>
        </p:spPr>
        <p:txBody>
          <a:bodyPr wrap="square" lIns="0" tIns="0" rIns="0" bIns="0" rtlCol="0" anchor="t"/>
          <a:lstStyle/>
          <a:p>
            <a:pPr indent="0" marL="0">
              <a:buNone/>
            </a:pPr>
            <a:r>
              <a:rPr lang="en-US" sz="1400" dirty="0">
                <a:solidFill>
                  <a:schemeClr val="tx1"/>
                </a:solidFill>
              </a:rPr>
              <a:t>ordenado por fecha, sin año explícito</a:t>
            </a:r>
            <a:endParaRPr lang="en-US" sz="1400" dirty="0"/>
          </a:p>
        </p:txBody>
      </p:sp>
      <p:sp>
        <p:nvSpPr>
          <p:cNvPr id="12" name="tarjeta-28"/>
          <p:cNvSpPr/>
          <p:nvPr/>
        </p:nvSpPr>
        <p:spPr>
          <a:xfrm>
            <a:off x="9052560" y="1554480"/>
            <a:ext cx="2560320" cy="1828800"/>
          </a:xfrm>
          <a:prstGeom prst="roundRect">
            <a:avLst>
              <a:gd name="adj" fmla="val 4000"/>
            </a:avLst>
          </a:prstGeom>
          <a:solidFill>
            <a:schemeClr val="bg2"/>
          </a:solidFill>
          <a:ln/>
        </p:spPr>
      </p:sp>
      <p:sp>
        <p:nvSpPr>
          <p:cNvPr id="13" name="texto-29"/>
          <p:cNvSpPr txBox="1"/>
          <p:nvPr/>
        </p:nvSpPr>
        <p:spPr>
          <a:xfrm>
            <a:off x="9235440" y="1691640"/>
            <a:ext cx="2194560" cy="950976"/>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CC BY 4.0</a:t>
            </a:r>
            <a:endParaRPr lang="en-US" sz="3000" dirty="0"/>
          </a:p>
        </p:txBody>
      </p:sp>
      <p:sp>
        <p:nvSpPr>
          <p:cNvPr id="14" name="texto-30"/>
          <p:cNvSpPr txBox="1"/>
          <p:nvPr/>
        </p:nvSpPr>
        <p:spPr>
          <a:xfrm>
            <a:off x="9235440" y="2642616"/>
            <a:ext cx="2194560" cy="649224"/>
          </a:xfrm>
          <a:prstGeom prst="rect">
            <a:avLst/>
          </a:prstGeom>
          <a:noFill/>
          <a:ln/>
        </p:spPr>
        <p:txBody>
          <a:bodyPr wrap="square" lIns="0" tIns="0" rIns="0" bIns="0" rtlCol="0" anchor="t"/>
          <a:lstStyle/>
          <a:p>
            <a:pPr indent="0" marL="0">
              <a:buNone/>
            </a:pPr>
            <a:r>
              <a:rPr lang="en-US" sz="1400" dirty="0">
                <a:solidFill>
                  <a:schemeClr val="tx1"/>
                </a:solidFill>
              </a:rPr>
              <a:t>UCI Bank Marketing, id 222 (Moro et al., 2014)</a:t>
            </a:r>
            <a:endParaRPr lang="en-US" sz="1400" dirty="0"/>
          </a:p>
        </p:txBody>
      </p:sp>
      <p:sp>
        <p:nvSpPr>
          <p:cNvPr id="15" name="texto-31"/>
          <p:cNvSpPr txBox="1"/>
          <p:nvPr/>
        </p:nvSpPr>
        <p:spPr>
          <a:xfrm>
            <a:off x="548640" y="3749040"/>
            <a:ext cx="5303520" cy="365760"/>
          </a:xfrm>
          <a:prstGeom prst="rect">
            <a:avLst/>
          </a:prstGeom>
          <a:noFill/>
          <a:ln/>
        </p:spPr>
        <p:txBody>
          <a:bodyPr wrap="square" lIns="0" tIns="0" rIns="0" bIns="0" rtlCol="0" anchor="t"/>
          <a:lstStyle/>
          <a:p>
            <a:pPr indent="0" marL="0">
              <a:buNone/>
            </a:pPr>
            <a:r>
              <a:rPr lang="en-US" sz="1600" b="1" dirty="0">
                <a:solidFill>
                  <a:schemeClr val="tx2"/>
                </a:solidFill>
              </a:rPr>
              <a:t>Por qué es adecuado</a:t>
            </a:r>
            <a:endParaRPr lang="en-US" sz="1600" dirty="0"/>
          </a:p>
        </p:txBody>
      </p:sp>
      <p:sp>
        <p:nvSpPr>
          <p:cNvPr id="16" name="texto-32"/>
          <p:cNvSpPr txBox="1"/>
          <p:nvPr/>
        </p:nvSpPr>
        <p:spPr>
          <a:xfrm>
            <a:off x="548640" y="4160520"/>
            <a:ext cx="530352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Mezcla variables numéricas y categóricas</a:t>
            </a:r>
            <a:endParaRPr lang="en-US" sz="1500" dirty="0"/>
          </a:p>
          <a:p>
            <a:pPr marL="342900" indent="-342900">
              <a:spcAft>
                <a:spcPts val="600"/>
              </a:spcAft>
              <a:buSzPct val="100000"/>
              <a:buChar char="•"/>
            </a:pPr>
            <a:r>
              <a:rPr lang="en-US" sz="1500" dirty="0">
                <a:solidFill>
                  <a:schemeClr val="tx1"/>
                </a:solidFill>
              </a:rPr>
              <a:t>Tiene desbalance, faltantes y códigos centinela reales</a:t>
            </a:r>
            <a:endParaRPr lang="en-US" sz="1500" dirty="0"/>
          </a:p>
          <a:p>
            <a:pPr marL="342900" indent="-342900">
              <a:spcAft>
                <a:spcPts val="600"/>
              </a:spcAft>
              <a:buSzPct val="100000"/>
              <a:buChar char="•"/>
            </a:pPr>
            <a:r>
              <a:rPr lang="en-US" sz="1500" dirty="0">
                <a:solidFill>
                  <a:schemeClr val="tx1"/>
                </a:solidFill>
              </a:rPr>
              <a:t>Obliga a decidir qué se puede usar antes de llamar</a:t>
            </a:r>
            <a:endParaRPr lang="en-US" sz="1500" dirty="0"/>
          </a:p>
        </p:txBody>
      </p:sp>
      <p:sp>
        <p:nvSpPr>
          <p:cNvPr id="17" name="texto-33"/>
          <p:cNvSpPr txBox="1"/>
          <p:nvPr/>
        </p:nvSpPr>
        <p:spPr>
          <a:xfrm>
            <a:off x="6309360" y="3749040"/>
            <a:ext cx="5303520" cy="365760"/>
          </a:xfrm>
          <a:prstGeom prst="rect">
            <a:avLst/>
          </a:prstGeom>
          <a:noFill/>
          <a:ln/>
        </p:spPr>
        <p:txBody>
          <a:bodyPr wrap="square" lIns="0" tIns="0" rIns="0" bIns="0" rtlCol="0" anchor="t"/>
          <a:lstStyle/>
          <a:p>
            <a:pPr indent="0" marL="0">
              <a:buNone/>
            </a:pPr>
            <a:r>
              <a:rPr lang="en-US" sz="1600" b="1" dirty="0">
                <a:solidFill>
                  <a:schemeClr val="accent5"/>
                </a:solidFill>
              </a:rPr>
              <a:t>Limitaciones conocidas</a:t>
            </a:r>
            <a:endParaRPr lang="en-US" sz="1600" dirty="0"/>
          </a:p>
        </p:txBody>
      </p:sp>
      <p:sp>
        <p:nvSpPr>
          <p:cNvPr id="18" name="texto-34"/>
          <p:cNvSpPr txBox="1"/>
          <p:nvPr/>
        </p:nvSpPr>
        <p:spPr>
          <a:xfrm>
            <a:off x="6309360" y="4160520"/>
            <a:ext cx="530352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Un solo banco, en plena crisis financiera</a:t>
            </a:r>
            <a:endParaRPr lang="en-US" sz="1500" dirty="0"/>
          </a:p>
          <a:p>
            <a:pPr marL="342900" indent="-342900">
              <a:spcAft>
                <a:spcPts val="600"/>
              </a:spcAft>
              <a:buSzPct val="100000"/>
              <a:buChar char="•"/>
            </a:pPr>
            <a:r>
              <a:rPr lang="en-US" sz="1500" dirty="0">
                <a:solidFill>
                  <a:schemeClr val="tx1"/>
                </a:solidFill>
              </a:rPr>
              <a:t>Solo clientes que el banco decidió llamar</a:t>
            </a:r>
            <a:endParaRPr lang="en-US" sz="1500" dirty="0"/>
          </a:p>
          <a:p>
            <a:pPr marL="342900" indent="-342900">
              <a:spcAft>
                <a:spcPts val="600"/>
              </a:spcAft>
              <a:buSzPct val="100000"/>
              <a:buChar char="•"/>
            </a:pPr>
            <a:r>
              <a:rPr lang="en-US" sz="1500" dirty="0">
                <a:solidFill>
                  <a:schemeClr val="tx1"/>
                </a:solidFill>
              </a:rPr>
              <a:t>Sin identificador de cliente ni variables macroeconómicas</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000" b="1" dirty="0">
                <a:solidFill>
                  <a:schemeClr val="tx2"/>
                </a:solidFill>
              </a:rPr>
              <a:t>El perfil y el historial separan a quienes suscriben</a:t>
            </a:r>
            <a:endParaRPr lang="en-US" sz="3000" dirty="0"/>
          </a:p>
        </p:txBody>
      </p:sp>
      <p:pic>
        <p:nvPicPr>
          <p:cNvPr id="3" name="figura-35" descr="Tasa de suscripción por ocupación, educación, estado civil y grupo de edad">    </p:cNvPr>
          <p:cNvPicPr>
            <a:picLocks noChangeAspect="1"/>
          </p:cNvPicPr>
          <p:nvPr/>
        </p:nvPicPr>
        <p:blipFill>
          <a:blip r:embed="rId1"/>
          <a:stretch>
            <a:fillRect/>
          </a:stretch>
        </p:blipFill>
        <p:spPr>
          <a:xfrm>
            <a:off x="548640" y="1508760"/>
            <a:ext cx="6949440" cy="4242816"/>
          </a:xfrm>
          <a:prstGeom prst="rect">
            <a:avLst/>
          </a:prstGeom>
        </p:spPr>
      </p:pic>
      <p:sp>
        <p:nvSpPr>
          <p:cNvPr id="4" name="texto-36"/>
          <p:cNvSpPr txBox="1"/>
          <p:nvPr/>
        </p:nvSpPr>
        <p:spPr>
          <a:xfrm>
            <a:off x="548640" y="5852160"/>
            <a:ext cx="6949440" cy="274320"/>
          </a:xfrm>
          <a:prstGeom prst="rect">
            <a:avLst/>
          </a:prstGeom>
          <a:noFill/>
          <a:ln/>
        </p:spPr>
        <p:txBody>
          <a:bodyPr wrap="square" lIns="0" tIns="0" rIns="0" bIns="0" rtlCol="0" anchor="t"/>
          <a:lstStyle/>
          <a:p>
            <a:pPr indent="0" marL="0">
              <a:buNone/>
            </a:pPr>
            <a:r>
              <a:rPr lang="en-US" sz="1100" dirty="0">
                <a:solidFill>
                  <a:schemeClr val="accent4"/>
                </a:solidFill>
              </a:rPr>
              <a:t>Tasa de suscripción en train. Línea punteada: tasa global (11.7%).</a:t>
            </a:r>
            <a:endParaRPr lang="en-US" sz="1100" dirty="0"/>
          </a:p>
        </p:txBody>
      </p:sp>
      <p:sp>
        <p:nvSpPr>
          <p:cNvPr id="5" name="tarjeta-37"/>
          <p:cNvSpPr/>
          <p:nvPr/>
        </p:nvSpPr>
        <p:spPr>
          <a:xfrm>
            <a:off x="7863840" y="1508760"/>
            <a:ext cx="3749040" cy="1298448"/>
          </a:xfrm>
          <a:prstGeom prst="roundRect">
            <a:avLst>
              <a:gd name="adj" fmla="val 5634"/>
            </a:avLst>
          </a:prstGeom>
          <a:solidFill>
            <a:schemeClr val="bg2"/>
          </a:solidFill>
          <a:ln/>
        </p:spPr>
      </p:sp>
      <p:sp>
        <p:nvSpPr>
          <p:cNvPr id="6" name="texto-38"/>
          <p:cNvSpPr txBox="1"/>
          <p:nvPr/>
        </p:nvSpPr>
        <p:spPr>
          <a:xfrm>
            <a:off x="8046720" y="1600200"/>
            <a:ext cx="1417320" cy="1115568"/>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63.8%</a:t>
            </a:r>
            <a:endParaRPr lang="en-US" sz="2600" dirty="0"/>
          </a:p>
        </p:txBody>
      </p:sp>
      <p:sp>
        <p:nvSpPr>
          <p:cNvPr id="7" name="texto-39"/>
          <p:cNvSpPr txBox="1"/>
          <p:nvPr/>
        </p:nvSpPr>
        <p:spPr>
          <a:xfrm>
            <a:off x="9509760" y="1600200"/>
            <a:ext cx="1965960" cy="1115568"/>
          </a:xfrm>
          <a:prstGeom prst="rect">
            <a:avLst/>
          </a:prstGeom>
          <a:noFill/>
          <a:ln/>
        </p:spPr>
        <p:txBody>
          <a:bodyPr wrap="square" lIns="0" tIns="0" rIns="0" bIns="0" rtlCol="0" anchor="ctr"/>
          <a:lstStyle/>
          <a:p>
            <a:pPr indent="0" marL="0">
              <a:buNone/>
            </a:pPr>
            <a:r>
              <a:rPr lang="en-US" sz="1300" dirty="0">
                <a:solidFill>
                  <a:schemeClr val="tx1"/>
                </a:solidFill>
              </a:rPr>
              <a:t>vuelve a aceptar si aceptó en la campaña anterior (solo 3.3% de los contactos)</a:t>
            </a:r>
            <a:endParaRPr lang="en-US" sz="1300" dirty="0"/>
          </a:p>
        </p:txBody>
      </p:sp>
      <p:sp>
        <p:nvSpPr>
          <p:cNvPr id="8" name="tarjeta-40"/>
          <p:cNvSpPr/>
          <p:nvPr/>
        </p:nvSpPr>
        <p:spPr>
          <a:xfrm>
            <a:off x="7863840" y="2990088"/>
            <a:ext cx="3749040" cy="1298448"/>
          </a:xfrm>
          <a:prstGeom prst="roundRect">
            <a:avLst>
              <a:gd name="adj" fmla="val 5634"/>
            </a:avLst>
          </a:prstGeom>
          <a:solidFill>
            <a:schemeClr val="bg2"/>
          </a:solidFill>
          <a:ln/>
        </p:spPr>
      </p:sp>
      <p:sp>
        <p:nvSpPr>
          <p:cNvPr id="9" name="texto-41"/>
          <p:cNvSpPr txBox="1"/>
          <p:nvPr/>
        </p:nvSpPr>
        <p:spPr>
          <a:xfrm>
            <a:off x="8046720" y="3081528"/>
            <a:ext cx="1417320" cy="1115568"/>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28.7%</a:t>
            </a:r>
            <a:endParaRPr lang="en-US" sz="2600" dirty="0"/>
          </a:p>
        </p:txBody>
      </p:sp>
      <p:sp>
        <p:nvSpPr>
          <p:cNvPr id="10" name="texto-42"/>
          <p:cNvSpPr txBox="1"/>
          <p:nvPr/>
        </p:nvSpPr>
        <p:spPr>
          <a:xfrm>
            <a:off x="9509760" y="3081528"/>
            <a:ext cx="1965960" cy="1115568"/>
          </a:xfrm>
          <a:prstGeom prst="rect">
            <a:avLst/>
          </a:prstGeom>
          <a:noFill/>
          <a:ln/>
        </p:spPr>
        <p:txBody>
          <a:bodyPr wrap="square" lIns="0" tIns="0" rIns="0" bIns="0" rtlCol="0" anchor="ctr"/>
          <a:lstStyle/>
          <a:p>
            <a:pPr indent="0" marL="0">
              <a:buNone/>
            </a:pPr>
            <a:r>
              <a:rPr lang="en-US" sz="1300" dirty="0">
                <a:solidFill>
                  <a:schemeClr val="tx1"/>
                </a:solidFill>
              </a:rPr>
              <a:t>de los estudiantes y 22.7% de los jubilados suscriben</a:t>
            </a:r>
            <a:endParaRPr lang="en-US" sz="1300" dirty="0"/>
          </a:p>
        </p:txBody>
      </p:sp>
      <p:sp>
        <p:nvSpPr>
          <p:cNvPr id="11" name="tarjeta-43"/>
          <p:cNvSpPr/>
          <p:nvPr/>
        </p:nvSpPr>
        <p:spPr>
          <a:xfrm>
            <a:off x="7863840" y="4471416"/>
            <a:ext cx="3749040" cy="1298448"/>
          </a:xfrm>
          <a:prstGeom prst="roundRect">
            <a:avLst>
              <a:gd name="adj" fmla="val 5634"/>
            </a:avLst>
          </a:prstGeom>
          <a:solidFill>
            <a:schemeClr val="bg2"/>
          </a:solidFill>
          <a:ln/>
        </p:spPr>
      </p:sp>
      <p:sp>
        <p:nvSpPr>
          <p:cNvPr id="12" name="texto-44"/>
          <p:cNvSpPr txBox="1"/>
          <p:nvPr/>
        </p:nvSpPr>
        <p:spPr>
          <a:xfrm>
            <a:off x="8046720" y="4562856"/>
            <a:ext cx="1417320" cy="1115568"/>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41.9%</a:t>
            </a:r>
            <a:endParaRPr lang="en-US" sz="2600" dirty="0"/>
          </a:p>
        </p:txBody>
      </p:sp>
      <p:sp>
        <p:nvSpPr>
          <p:cNvPr id="13" name="texto-45"/>
          <p:cNvSpPr txBox="1"/>
          <p:nvPr/>
        </p:nvSpPr>
        <p:spPr>
          <a:xfrm>
            <a:off x="9509760" y="4562856"/>
            <a:ext cx="1965960" cy="1115568"/>
          </a:xfrm>
          <a:prstGeom prst="rect">
            <a:avLst/>
          </a:prstGeom>
          <a:noFill/>
          <a:ln/>
        </p:spPr>
        <p:txBody>
          <a:bodyPr wrap="square" lIns="0" tIns="0" rIns="0" bIns="0" rtlCol="0" anchor="ctr"/>
          <a:lstStyle/>
          <a:p>
            <a:pPr indent="0" marL="0">
              <a:buNone/>
            </a:pPr>
            <a:r>
              <a:rPr lang="en-US" sz="1300" dirty="0">
                <a:solidFill>
                  <a:schemeClr val="tx1"/>
                </a:solidFill>
              </a:rPr>
              <a:t>en mayores de 60: la edad tiene forma de U</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000" b="1" dirty="0">
                <a:solidFill>
                  <a:schemeClr val="tx2"/>
                </a:solidFill>
              </a:rPr>
              <a:t>Los datos cambian en el tiempo: de 3% a 47% de suscripción</a:t>
            </a:r>
            <a:endParaRPr lang="en-US" sz="3000" dirty="0"/>
          </a:p>
        </p:txBody>
      </p:sp>
      <p:pic>
        <p:nvPicPr>
          <p:cNvPr id="3" name="figura-46" descr="Volumen y tasa de suscripción por mes, y tasa por decil de antigüedad">    </p:cNvPr>
          <p:cNvPicPr>
            <a:picLocks noChangeAspect="1"/>
          </p:cNvPicPr>
          <p:nvPr/>
        </p:nvPicPr>
        <p:blipFill>
          <a:blip r:embed="rId1"/>
          <a:stretch>
            <a:fillRect/>
          </a:stretch>
        </p:blipFill>
        <p:spPr>
          <a:xfrm>
            <a:off x="548640" y="1463040"/>
            <a:ext cx="11064240" cy="2907792"/>
          </a:xfrm>
          <a:prstGeom prst="rect">
            <a:avLst/>
          </a:prstGeom>
        </p:spPr>
      </p:pic>
      <p:sp>
        <p:nvSpPr>
          <p:cNvPr id="4" name="tarjeta-47"/>
          <p:cNvSpPr/>
          <p:nvPr/>
        </p:nvSpPr>
        <p:spPr>
          <a:xfrm>
            <a:off x="548640" y="4572000"/>
            <a:ext cx="5394960" cy="1325880"/>
          </a:xfrm>
          <a:prstGeom prst="roundRect">
            <a:avLst>
              <a:gd name="adj" fmla="val 5517"/>
            </a:avLst>
          </a:prstGeom>
          <a:solidFill>
            <a:schemeClr val="bg2"/>
          </a:solidFill>
          <a:ln/>
        </p:spPr>
      </p:sp>
      <p:sp>
        <p:nvSpPr>
          <p:cNvPr id="5" name="texto-48"/>
          <p:cNvSpPr txBox="1"/>
          <p:nvPr/>
        </p:nvSpPr>
        <p:spPr>
          <a:xfrm>
            <a:off x="731520" y="4663440"/>
            <a:ext cx="5029200" cy="320040"/>
          </a:xfrm>
          <a:prstGeom prst="rect">
            <a:avLst/>
          </a:prstGeom>
          <a:noFill/>
          <a:ln/>
        </p:spPr>
        <p:txBody>
          <a:bodyPr wrap="square" lIns="0" tIns="0" rIns="0" bIns="0" rtlCol="0" anchor="t"/>
          <a:lstStyle/>
          <a:p>
            <a:pPr indent="0" marL="0">
              <a:buNone/>
            </a:pPr>
            <a:r>
              <a:rPr lang="en-US" sz="1400" b="1" dirty="0">
                <a:solidFill>
                  <a:schemeClr val="accent1"/>
                </a:solidFill>
              </a:rPr>
              <a:t>Lo que muestran los datos</a:t>
            </a:r>
            <a:endParaRPr lang="en-US" sz="1400" dirty="0"/>
          </a:p>
        </p:txBody>
      </p:sp>
      <p:sp>
        <p:nvSpPr>
          <p:cNvPr id="6" name="texto-49"/>
          <p:cNvSpPr txBox="1"/>
          <p:nvPr/>
        </p:nvSpPr>
        <p:spPr>
          <a:xfrm>
            <a:off x="731520" y="5010912"/>
            <a:ext cx="5029200" cy="1097280"/>
          </a:xfrm>
          <a:prstGeom prst="rect">
            <a:avLst/>
          </a:prstGeom>
          <a:noFill/>
          <a:ln/>
        </p:spPr>
        <p:txBody>
          <a:bodyPr wrap="square" lIns="0" tIns="0" rIns="0" bIns="0" rtlCol="0" anchor="t"/>
          <a:lstStyle/>
          <a:p>
            <a:pPr indent="0" marL="0">
              <a:buNone/>
            </a:pPr>
            <a:r>
              <a:rPr lang="en-US" sz="1400" dirty="0">
                <a:solidFill>
                  <a:schemeClr val="tx1"/>
                </a:solidFill>
              </a:rPr>
              <a:t>Mayo: 8,259 contactos y 6.8% de éxito. Marzo, septiembre, octubre y diciembre: pocos contactos y 43-49%.</a:t>
            </a:r>
            <a:endParaRPr lang="en-US" sz="1400" dirty="0"/>
          </a:p>
        </p:txBody>
      </p:sp>
      <p:sp>
        <p:nvSpPr>
          <p:cNvPr id="7" name="tarjeta-50"/>
          <p:cNvSpPr/>
          <p:nvPr/>
        </p:nvSpPr>
        <p:spPr>
          <a:xfrm>
            <a:off x="6217920" y="4572000"/>
            <a:ext cx="5394960" cy="1325880"/>
          </a:xfrm>
          <a:prstGeom prst="roundRect">
            <a:avLst>
              <a:gd name="adj" fmla="val 5517"/>
            </a:avLst>
          </a:prstGeom>
          <a:solidFill>
            <a:schemeClr val="bg2"/>
          </a:solidFill>
          <a:ln/>
        </p:spPr>
      </p:sp>
      <p:sp>
        <p:nvSpPr>
          <p:cNvPr id="8" name="texto-51"/>
          <p:cNvSpPr txBox="1"/>
          <p:nvPr/>
        </p:nvSpPr>
        <p:spPr>
          <a:xfrm>
            <a:off x="6400800" y="4663440"/>
            <a:ext cx="5029200" cy="320040"/>
          </a:xfrm>
          <a:prstGeom prst="rect">
            <a:avLst/>
          </a:prstGeom>
          <a:noFill/>
          <a:ln/>
        </p:spPr>
        <p:txBody>
          <a:bodyPr wrap="square" lIns="0" tIns="0" rIns="0" bIns="0" rtlCol="0" anchor="t"/>
          <a:lstStyle/>
          <a:p>
            <a:pPr indent="0" marL="0">
              <a:buNone/>
            </a:pPr>
            <a:r>
              <a:rPr lang="en-US" sz="1400" b="1" dirty="0">
                <a:solidFill>
                  <a:schemeClr val="accent2"/>
                </a:solidFill>
              </a:rPr>
              <a:t>Nuestra interpretación</a:t>
            </a:r>
            <a:endParaRPr lang="en-US" sz="1400" dirty="0"/>
          </a:p>
        </p:txBody>
      </p:sp>
      <p:sp>
        <p:nvSpPr>
          <p:cNvPr id="9" name="texto-52"/>
          <p:cNvSpPr txBox="1"/>
          <p:nvPr/>
        </p:nvSpPr>
        <p:spPr>
          <a:xfrm>
            <a:off x="6400800" y="5010912"/>
            <a:ext cx="5029200" cy="1097280"/>
          </a:xfrm>
          <a:prstGeom prst="rect">
            <a:avLst/>
          </a:prstGeom>
          <a:noFill/>
          <a:ln/>
        </p:spPr>
        <p:txBody>
          <a:bodyPr wrap="square" lIns="0" tIns="0" rIns="0" bIns="0" rtlCol="0" anchor="t"/>
          <a:lstStyle/>
          <a:p>
            <a:pPr indent="0" marL="0">
              <a:buNone/>
            </a:pPr>
            <a:r>
              <a:rPr lang="en-US" sz="1400" dirty="0">
                <a:solidFill>
                  <a:schemeClr val="tx1"/>
                </a:solidFill>
              </a:rPr>
              <a:t>El mes parece identificar el tipo de campaña, no una estacionalidad estable. Un split aleatorio puede dar una imagen optimista.</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000" b="1" dirty="0">
                <a:solidFill>
                  <a:schemeClr val="tx2"/>
                </a:solidFill>
              </a:rPr>
              <a:t>duration predice bien, pero se conoce después de llamar</a:t>
            </a:r>
            <a:endParaRPr lang="en-US" sz="3000" dirty="0"/>
          </a:p>
        </p:txBody>
      </p:sp>
      <p:pic>
        <p:nvPicPr>
          <p:cNvPr id="3" name="figura-53" descr="Tasa de suscripción por quintil de duración y duración según resultado">    </p:cNvPr>
          <p:cNvPicPr>
            <a:picLocks noChangeAspect="1"/>
          </p:cNvPicPr>
          <p:nvPr/>
        </p:nvPicPr>
        <p:blipFill>
          <a:blip r:embed="rId1"/>
          <a:stretch>
            <a:fillRect/>
          </a:stretch>
        </p:blipFill>
        <p:spPr>
          <a:xfrm>
            <a:off x="548640" y="1508760"/>
            <a:ext cx="7315200" cy="1901952"/>
          </a:xfrm>
          <a:prstGeom prst="rect">
            <a:avLst/>
          </a:prstGeom>
        </p:spPr>
      </p:pic>
      <p:sp>
        <p:nvSpPr>
          <p:cNvPr id="4" name="texto-54"/>
          <p:cNvSpPr txBox="1"/>
          <p:nvPr/>
        </p:nvSpPr>
        <p:spPr>
          <a:xfrm>
            <a:off x="548640" y="3611880"/>
            <a:ext cx="7315200" cy="731520"/>
          </a:xfrm>
          <a:prstGeom prst="rect">
            <a:avLst/>
          </a:prstGeom>
          <a:noFill/>
          <a:ln/>
        </p:spPr>
        <p:txBody>
          <a:bodyPr wrap="square" lIns="0" tIns="0" rIns="0" bIns="0" rtlCol="0" anchor="t"/>
          <a:lstStyle/>
          <a:p>
            <a:pPr indent="0" marL="0">
              <a:buNone/>
            </a:pPr>
            <a:r>
              <a:rPr lang="en-US" sz="1500" dirty="0">
                <a:solidFill>
                  <a:schemeClr val="tx1"/>
                </a:solidFill>
              </a:rPr>
              <a:t>Llamadas de hasta 89 s: 0.6% de éxito. Más de 367 s: 33.4%. La llamada es larga porque el cliente ya está aceptando.</a:t>
            </a:r>
            <a:endParaRPr lang="en-US" sz="1500" dirty="0"/>
          </a:p>
        </p:txBody>
      </p:sp>
      <p:sp>
        <p:nvSpPr>
          <p:cNvPr id="5" name="tarjeta-55"/>
          <p:cNvSpPr/>
          <p:nvPr/>
        </p:nvSpPr>
        <p:spPr>
          <a:xfrm>
            <a:off x="548640" y="4572000"/>
            <a:ext cx="7315200" cy="1463040"/>
          </a:xfrm>
          <a:prstGeom prst="roundRect">
            <a:avLst>
              <a:gd name="adj" fmla="val 5000"/>
            </a:avLst>
          </a:prstGeom>
          <a:solidFill>
            <a:schemeClr val="tx2"/>
          </a:solidFill>
          <a:ln/>
        </p:spPr>
      </p:sp>
      <p:sp>
        <p:nvSpPr>
          <p:cNvPr id="6" name="texto-56"/>
          <p:cNvSpPr txBox="1"/>
          <p:nvPr/>
        </p:nvSpPr>
        <p:spPr>
          <a:xfrm>
            <a:off x="777240" y="4709160"/>
            <a:ext cx="6858000" cy="411480"/>
          </a:xfrm>
          <a:prstGeom prst="rect">
            <a:avLst/>
          </a:prstGeom>
          <a:noFill/>
          <a:ln/>
        </p:spPr>
        <p:txBody>
          <a:bodyPr wrap="square" lIns="0" tIns="0" rIns="0" bIns="0" rtlCol="0" anchor="t"/>
          <a:lstStyle/>
          <a:p>
            <a:pPr indent="0" marL="0">
              <a:buNone/>
            </a:pPr>
            <a:r>
              <a:rPr lang="en-US" sz="1800" b="1" dirty="0">
                <a:solidFill>
                  <a:schemeClr val="bg1"/>
                </a:solidFill>
              </a:rPr>
              <a:t>Decisión: duration se excluye del modelo</a:t>
            </a:r>
            <a:endParaRPr lang="en-US" sz="1800" dirty="0"/>
          </a:p>
        </p:txBody>
      </p:sp>
      <p:sp>
        <p:nvSpPr>
          <p:cNvPr id="7" name="texto-57"/>
          <p:cNvSpPr txBox="1"/>
          <p:nvPr/>
        </p:nvSpPr>
        <p:spPr>
          <a:xfrm>
            <a:off x="777240" y="5166360"/>
            <a:ext cx="6858000" cy="777240"/>
          </a:xfrm>
          <a:prstGeom prst="rect">
            <a:avLst/>
          </a:prstGeom>
          <a:noFill/>
          <a:ln/>
        </p:spPr>
        <p:txBody>
          <a:bodyPr wrap="square" lIns="0" tIns="0" rIns="0" bIns="0" rtlCol="0" anchor="t"/>
          <a:lstStyle/>
          <a:p>
            <a:pPr indent="0" marL="0">
              <a:buNone/>
            </a:pPr>
            <a:r>
              <a:rPr lang="en-US" sz="1400" dirty="0">
                <a:solidFill>
                  <a:schemeClr val="bg2"/>
                </a:solidFill>
              </a:rPr>
              <a:t>Usarla sería data leakage: métricas excelentes en el notebook y un modelo inútil para decidir a quién llamar.</a:t>
            </a:r>
            <a:endParaRPr lang="en-US" sz="1400" dirty="0"/>
          </a:p>
        </p:txBody>
      </p:sp>
      <p:sp>
        <p:nvSpPr>
          <p:cNvPr id="8" name="texto-58"/>
          <p:cNvSpPr txBox="1"/>
          <p:nvPr/>
        </p:nvSpPr>
        <p:spPr>
          <a:xfrm>
            <a:off x="8229600" y="1508760"/>
            <a:ext cx="3383280" cy="365760"/>
          </a:xfrm>
          <a:prstGeom prst="rect">
            <a:avLst/>
          </a:prstGeom>
          <a:noFill/>
          <a:ln/>
        </p:spPr>
        <p:txBody>
          <a:bodyPr wrap="square" lIns="0" tIns="0" rIns="0" bIns="0" rtlCol="0" anchor="t"/>
          <a:lstStyle/>
          <a:p>
            <a:pPr indent="0" marL="0">
              <a:buNone/>
            </a:pPr>
            <a:r>
              <a:rPr lang="en-US" sz="1400" b="1" dirty="0">
                <a:solidFill>
                  <a:schemeClr val="accent1"/>
                </a:solidFill>
              </a:rPr>
              <a:t>Cuánto inflaría las métricas</a:t>
            </a:r>
            <a:endParaRPr lang="en-US" sz="1400" dirty="0"/>
          </a:p>
        </p:txBody>
      </p:sp>
      <p:sp>
        <p:nvSpPr>
          <p:cNvPr id="9" name="tarjeta-59"/>
          <p:cNvSpPr/>
          <p:nvPr/>
        </p:nvSpPr>
        <p:spPr>
          <a:xfrm>
            <a:off x="8229600" y="1965960"/>
            <a:ext cx="3383280" cy="1874520"/>
          </a:xfrm>
          <a:prstGeom prst="roundRect">
            <a:avLst>
              <a:gd name="adj" fmla="val 3902"/>
            </a:avLst>
          </a:prstGeom>
          <a:solidFill>
            <a:schemeClr val="bg2"/>
          </a:solidFill>
          <a:ln/>
        </p:spPr>
      </p:sp>
      <p:sp>
        <p:nvSpPr>
          <p:cNvPr id="10" name="texto-60"/>
          <p:cNvSpPr txBox="1"/>
          <p:nvPr/>
        </p:nvSpPr>
        <p:spPr>
          <a:xfrm>
            <a:off x="8412480" y="2103120"/>
            <a:ext cx="3017520" cy="97475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0.80</a:t>
            </a:r>
            <a:endParaRPr lang="en-US" sz="4400" dirty="0"/>
          </a:p>
        </p:txBody>
      </p:sp>
      <p:sp>
        <p:nvSpPr>
          <p:cNvPr id="11" name="texto-61"/>
          <p:cNvSpPr txBox="1"/>
          <p:nvPr/>
        </p:nvSpPr>
        <p:spPr>
          <a:xfrm>
            <a:off x="8412480" y="3077870"/>
            <a:ext cx="3017520" cy="671170"/>
          </a:xfrm>
          <a:prstGeom prst="rect">
            <a:avLst/>
          </a:prstGeom>
          <a:noFill/>
          <a:ln/>
        </p:spPr>
        <p:txBody>
          <a:bodyPr wrap="square" lIns="0" tIns="0" rIns="0" bIns="0" rtlCol="0" anchor="t"/>
          <a:lstStyle/>
          <a:p>
            <a:pPr indent="0" marL="0">
              <a:buNone/>
            </a:pPr>
            <a:r>
              <a:rPr lang="en-US" sz="1400" dirty="0">
                <a:solidFill>
                  <a:schemeClr val="tx1"/>
                </a:solidFill>
              </a:rPr>
              <a:t>ROC-AUC sin duration (modelo del proyecto)</a:t>
            </a:r>
            <a:endParaRPr lang="en-US" sz="1400" dirty="0"/>
          </a:p>
        </p:txBody>
      </p:sp>
      <p:sp>
        <p:nvSpPr>
          <p:cNvPr id="12" name="tarjeta-62"/>
          <p:cNvSpPr/>
          <p:nvPr/>
        </p:nvSpPr>
        <p:spPr>
          <a:xfrm>
            <a:off x="8229600" y="4069080"/>
            <a:ext cx="3383280" cy="1965960"/>
          </a:xfrm>
          <a:prstGeom prst="roundRect">
            <a:avLst>
              <a:gd name="adj" fmla="val 3721"/>
            </a:avLst>
          </a:prstGeom>
          <a:solidFill>
            <a:schemeClr val="bg2"/>
          </a:solidFill>
          <a:ln/>
        </p:spPr>
      </p:sp>
      <p:sp>
        <p:nvSpPr>
          <p:cNvPr id="13" name="texto-63"/>
          <p:cNvSpPr txBox="1"/>
          <p:nvPr/>
        </p:nvSpPr>
        <p:spPr>
          <a:xfrm>
            <a:off x="8412480" y="4206240"/>
            <a:ext cx="3017520" cy="1022299"/>
          </a:xfrm>
          <a:prstGeom prst="rect">
            <a:avLst/>
          </a:prstGeom>
          <a:noFill/>
          <a:ln/>
        </p:spPr>
        <p:txBody>
          <a:bodyPr wrap="square" lIns="0" tIns="0" rIns="0" bIns="0" rtlCol="0" anchor="ctr"/>
          <a:lstStyle/>
          <a:p>
            <a:pPr indent="0" marL="0">
              <a:buNone/>
            </a:pPr>
            <a:r>
              <a:rPr lang="en-US" sz="4400" b="1" dirty="0">
                <a:solidFill>
                  <a:schemeClr val="accent5"/>
                </a:solidFill>
                <a:latin typeface="Cambria" pitchFamily="34" charset="0"/>
                <a:ea typeface="Cambria" pitchFamily="34" charset="-122"/>
                <a:cs typeface="Cambria" pitchFamily="34" charset="-120"/>
              </a:rPr>
              <a:t>0.94</a:t>
            </a:r>
            <a:endParaRPr lang="en-US" sz="4400" dirty="0"/>
          </a:p>
        </p:txBody>
      </p:sp>
      <p:sp>
        <p:nvSpPr>
          <p:cNvPr id="14" name="texto-64"/>
          <p:cNvSpPr txBox="1"/>
          <p:nvPr/>
        </p:nvSpPr>
        <p:spPr>
          <a:xfrm>
            <a:off x="8412480" y="5228539"/>
            <a:ext cx="3017520" cy="715061"/>
          </a:xfrm>
          <a:prstGeom prst="rect">
            <a:avLst/>
          </a:prstGeom>
          <a:noFill/>
          <a:ln/>
        </p:spPr>
        <p:txBody>
          <a:bodyPr wrap="square" lIns="0" tIns="0" rIns="0" bIns="0" rtlCol="0" anchor="t"/>
          <a:lstStyle/>
          <a:p>
            <a:pPr indent="0" marL="0">
              <a:buNone/>
            </a:pPr>
            <a:r>
              <a:rPr lang="en-US" sz="1400" dirty="0">
                <a:solidFill>
                  <a:schemeClr val="tx1"/>
                </a:solidFill>
              </a:rPr>
              <a:t>ROC-AUC con duration: cifra que no se puede obtener antes de llamar</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000" b="1" dirty="0">
                <a:solidFill>
                  <a:schemeClr val="tx2"/>
                </a:solidFill>
              </a:rPr>
              <a:t>Un solo pipeline, ajustado únicamente con train</a:t>
            </a:r>
            <a:endParaRPr lang="en-US" sz="3000" dirty="0"/>
          </a:p>
        </p:txBody>
      </p:sp>
      <p:sp>
        <p:nvSpPr>
          <p:cNvPr id="3" name="tarjeta-65"/>
          <p:cNvSpPr/>
          <p:nvPr/>
        </p:nvSpPr>
        <p:spPr>
          <a:xfrm>
            <a:off x="548640" y="1554480"/>
            <a:ext cx="1920240" cy="1188720"/>
          </a:xfrm>
          <a:prstGeom prst="roundRect">
            <a:avLst>
              <a:gd name="adj" fmla="val 6154"/>
            </a:avLst>
          </a:prstGeom>
          <a:solidFill>
            <a:schemeClr val="tx2"/>
          </a:solidFill>
          <a:ln/>
        </p:spPr>
      </p:sp>
      <p:sp>
        <p:nvSpPr>
          <p:cNvPr id="4" name="texto-66"/>
          <p:cNvSpPr txBox="1"/>
          <p:nvPr/>
        </p:nvSpPr>
        <p:spPr>
          <a:xfrm>
            <a:off x="640080" y="1664208"/>
            <a:ext cx="1737360" cy="457200"/>
          </a:xfrm>
          <a:prstGeom prst="rect">
            <a:avLst/>
          </a:prstGeom>
          <a:noFill/>
          <a:ln/>
        </p:spPr>
        <p:txBody>
          <a:bodyPr wrap="square" lIns="0" tIns="0" rIns="0" bIns="0" rtlCol="0" anchor="ctr"/>
          <a:lstStyle/>
          <a:p>
            <a:pPr algn="ctr" indent="0" marL="0">
              <a:buNone/>
            </a:pPr>
            <a:r>
              <a:rPr lang="en-US" sz="1500" b="1" dirty="0">
                <a:solidFill>
                  <a:schemeClr val="bg1"/>
                </a:solidFill>
              </a:rPr>
              <a:t>Datos</a:t>
            </a:r>
            <a:endParaRPr lang="en-US" sz="1500" dirty="0"/>
          </a:p>
        </p:txBody>
      </p:sp>
      <p:sp>
        <p:nvSpPr>
          <p:cNvPr id="5" name="texto-67"/>
          <p:cNvSpPr txBox="1"/>
          <p:nvPr/>
        </p:nvSpPr>
        <p:spPr>
          <a:xfrm>
            <a:off x="640080" y="2121408"/>
            <a:ext cx="1737360" cy="502920"/>
          </a:xfrm>
          <a:prstGeom prst="rect">
            <a:avLst/>
          </a:prstGeom>
          <a:noFill/>
          <a:ln/>
        </p:spPr>
        <p:txBody>
          <a:bodyPr wrap="square" lIns="0" tIns="0" rIns="0" bIns="0" rtlCol="0" anchor="ctr"/>
          <a:lstStyle/>
          <a:p>
            <a:pPr algn="ctr" indent="0" marL="0">
              <a:buNone/>
            </a:pPr>
            <a:r>
              <a:rPr lang="en-US" sz="1200" dirty="0">
                <a:solidFill>
                  <a:schemeClr val="bg1"/>
                </a:solidFill>
              </a:rPr>
              <a:t>45,211 filas</a:t>
            </a:r>
            <a:endParaRPr lang="en-US" sz="1200" dirty="0"/>
          </a:p>
        </p:txBody>
      </p:sp>
      <p:sp>
        <p:nvSpPr>
          <p:cNvPr id="6" name="flecha-68"/>
          <p:cNvSpPr/>
          <p:nvPr/>
        </p:nvSpPr>
        <p:spPr>
          <a:xfrm>
            <a:off x="2523744" y="2011680"/>
            <a:ext cx="256032" cy="274320"/>
          </a:xfrm>
          <a:prstGeom prst="rightArrow">
            <a:avLst/>
          </a:prstGeom>
          <a:solidFill>
            <a:schemeClr val="accent4"/>
          </a:solidFill>
          <a:ln/>
        </p:spPr>
      </p:sp>
      <p:sp>
        <p:nvSpPr>
          <p:cNvPr id="7" name="tarjeta-69"/>
          <p:cNvSpPr/>
          <p:nvPr/>
        </p:nvSpPr>
        <p:spPr>
          <a:xfrm>
            <a:off x="2834640" y="1554480"/>
            <a:ext cx="1920240" cy="1188720"/>
          </a:xfrm>
          <a:prstGeom prst="roundRect">
            <a:avLst>
              <a:gd name="adj" fmla="val 6154"/>
            </a:avLst>
          </a:prstGeom>
          <a:solidFill>
            <a:schemeClr val="tx2"/>
          </a:solidFill>
          <a:ln/>
        </p:spPr>
      </p:sp>
      <p:sp>
        <p:nvSpPr>
          <p:cNvPr id="8" name="texto-70"/>
          <p:cNvSpPr txBox="1"/>
          <p:nvPr/>
        </p:nvSpPr>
        <p:spPr>
          <a:xfrm>
            <a:off x="2926080" y="1664208"/>
            <a:ext cx="1737360" cy="457200"/>
          </a:xfrm>
          <a:prstGeom prst="rect">
            <a:avLst/>
          </a:prstGeom>
          <a:noFill/>
          <a:ln/>
        </p:spPr>
        <p:txBody>
          <a:bodyPr wrap="square" lIns="0" tIns="0" rIns="0" bIns="0" rtlCol="0" anchor="ctr"/>
          <a:lstStyle/>
          <a:p>
            <a:pPr algn="ctr" indent="0" marL="0">
              <a:buNone/>
            </a:pPr>
            <a:r>
              <a:rPr lang="en-US" sz="1500" b="1" dirty="0">
                <a:solidFill>
                  <a:schemeClr val="bg1"/>
                </a:solidFill>
              </a:rPr>
              <a:t>Split estratificado</a:t>
            </a:r>
            <a:endParaRPr lang="en-US" sz="1500" dirty="0"/>
          </a:p>
        </p:txBody>
      </p:sp>
      <p:sp>
        <p:nvSpPr>
          <p:cNvPr id="9" name="texto-71"/>
          <p:cNvSpPr txBox="1"/>
          <p:nvPr/>
        </p:nvSpPr>
        <p:spPr>
          <a:xfrm>
            <a:off x="2926080" y="2121408"/>
            <a:ext cx="1737360" cy="502920"/>
          </a:xfrm>
          <a:prstGeom prst="rect">
            <a:avLst/>
          </a:prstGeom>
          <a:noFill/>
          <a:ln/>
        </p:spPr>
        <p:txBody>
          <a:bodyPr wrap="square" lIns="0" tIns="0" rIns="0" bIns="0" rtlCol="0" anchor="ctr"/>
          <a:lstStyle/>
          <a:p>
            <a:pPr algn="ctr" indent="0" marL="0">
              <a:buNone/>
            </a:pPr>
            <a:r>
              <a:rPr lang="en-US" sz="1200" dirty="0">
                <a:solidFill>
                  <a:schemeClr val="bg1"/>
                </a:solidFill>
              </a:rPr>
              <a:t>60 / 20 / 20</a:t>
            </a:r>
            <a:endParaRPr lang="en-US" sz="1200" dirty="0"/>
          </a:p>
        </p:txBody>
      </p:sp>
      <p:sp>
        <p:nvSpPr>
          <p:cNvPr id="10" name="flecha-72"/>
          <p:cNvSpPr/>
          <p:nvPr/>
        </p:nvSpPr>
        <p:spPr>
          <a:xfrm>
            <a:off x="4809744" y="2011680"/>
            <a:ext cx="256032" cy="274320"/>
          </a:xfrm>
          <a:prstGeom prst="rightArrow">
            <a:avLst/>
          </a:prstGeom>
          <a:solidFill>
            <a:schemeClr val="accent4"/>
          </a:solidFill>
          <a:ln/>
        </p:spPr>
      </p:sp>
      <p:sp>
        <p:nvSpPr>
          <p:cNvPr id="11" name="tarjeta-73"/>
          <p:cNvSpPr/>
          <p:nvPr/>
        </p:nvSpPr>
        <p:spPr>
          <a:xfrm>
            <a:off x="5120640" y="1554480"/>
            <a:ext cx="1920240" cy="1188720"/>
          </a:xfrm>
          <a:prstGeom prst="roundRect">
            <a:avLst>
              <a:gd name="adj" fmla="val 6154"/>
            </a:avLst>
          </a:prstGeom>
          <a:solidFill>
            <a:schemeClr val="tx2"/>
          </a:solidFill>
          <a:ln/>
        </p:spPr>
      </p:sp>
      <p:sp>
        <p:nvSpPr>
          <p:cNvPr id="12" name="texto-74"/>
          <p:cNvSpPr txBox="1"/>
          <p:nvPr/>
        </p:nvSpPr>
        <p:spPr>
          <a:xfrm>
            <a:off x="5212080" y="1664208"/>
            <a:ext cx="1737360" cy="457200"/>
          </a:xfrm>
          <a:prstGeom prst="rect">
            <a:avLst/>
          </a:prstGeom>
          <a:noFill/>
          <a:ln/>
        </p:spPr>
        <p:txBody>
          <a:bodyPr wrap="square" lIns="0" tIns="0" rIns="0" bIns="0" rtlCol="0" anchor="ctr"/>
          <a:lstStyle/>
          <a:p>
            <a:pPr algn="ctr" indent="0" marL="0">
              <a:buNone/>
            </a:pPr>
            <a:r>
              <a:rPr lang="en-US" sz="1500" b="1" dirty="0">
                <a:solidFill>
                  <a:schemeClr val="bg1"/>
                </a:solidFill>
              </a:rPr>
              <a:t>add_features</a:t>
            </a:r>
            <a:endParaRPr lang="en-US" sz="1500" dirty="0"/>
          </a:p>
        </p:txBody>
      </p:sp>
      <p:sp>
        <p:nvSpPr>
          <p:cNvPr id="13" name="texto-75"/>
          <p:cNvSpPr txBox="1"/>
          <p:nvPr/>
        </p:nvSpPr>
        <p:spPr>
          <a:xfrm>
            <a:off x="5212080" y="2121408"/>
            <a:ext cx="1737360" cy="502920"/>
          </a:xfrm>
          <a:prstGeom prst="rect">
            <a:avLst/>
          </a:prstGeom>
          <a:noFill/>
          <a:ln/>
        </p:spPr>
        <p:txBody>
          <a:bodyPr wrap="square" lIns="0" tIns="0" rIns="0" bIns="0" rtlCol="0" anchor="ctr"/>
          <a:lstStyle/>
          <a:p>
            <a:pPr algn="ctr" indent="0" marL="0">
              <a:buNone/>
            </a:pPr>
            <a:r>
              <a:rPr lang="en-US" sz="1200" dirty="0">
                <a:solidFill>
                  <a:schemeClr val="bg1"/>
                </a:solidFill>
              </a:rPr>
              <a:t>indicador contactado_antes</a:t>
            </a:r>
            <a:endParaRPr lang="en-US" sz="1200" dirty="0"/>
          </a:p>
        </p:txBody>
      </p:sp>
      <p:sp>
        <p:nvSpPr>
          <p:cNvPr id="14" name="flecha-76"/>
          <p:cNvSpPr/>
          <p:nvPr/>
        </p:nvSpPr>
        <p:spPr>
          <a:xfrm>
            <a:off x="7095744" y="2011680"/>
            <a:ext cx="256032" cy="274320"/>
          </a:xfrm>
          <a:prstGeom prst="rightArrow">
            <a:avLst/>
          </a:prstGeom>
          <a:solidFill>
            <a:schemeClr val="accent4"/>
          </a:solidFill>
          <a:ln/>
        </p:spPr>
      </p:sp>
      <p:sp>
        <p:nvSpPr>
          <p:cNvPr id="15" name="tarjeta-77"/>
          <p:cNvSpPr/>
          <p:nvPr/>
        </p:nvSpPr>
        <p:spPr>
          <a:xfrm>
            <a:off x="7406640" y="1554480"/>
            <a:ext cx="1920240" cy="1188720"/>
          </a:xfrm>
          <a:prstGeom prst="roundRect">
            <a:avLst>
              <a:gd name="adj" fmla="val 6154"/>
            </a:avLst>
          </a:prstGeom>
          <a:solidFill>
            <a:schemeClr val="tx2"/>
          </a:solidFill>
          <a:ln/>
        </p:spPr>
      </p:sp>
      <p:sp>
        <p:nvSpPr>
          <p:cNvPr id="16" name="texto-78"/>
          <p:cNvSpPr txBox="1"/>
          <p:nvPr/>
        </p:nvSpPr>
        <p:spPr>
          <a:xfrm>
            <a:off x="7498080" y="1664208"/>
            <a:ext cx="1737360" cy="457200"/>
          </a:xfrm>
          <a:prstGeom prst="rect">
            <a:avLst/>
          </a:prstGeom>
          <a:noFill/>
          <a:ln/>
        </p:spPr>
        <p:txBody>
          <a:bodyPr wrap="square" lIns="0" tIns="0" rIns="0" bIns="0" rtlCol="0" anchor="ctr"/>
          <a:lstStyle/>
          <a:p>
            <a:pPr algn="ctr" indent="0" marL="0">
              <a:buNone/>
            </a:pPr>
            <a:r>
              <a:rPr lang="en-US" sz="1500" b="1" dirty="0">
                <a:solidFill>
                  <a:schemeClr val="bg1"/>
                </a:solidFill>
              </a:rPr>
              <a:t>ColumnTransformer</a:t>
            </a:r>
            <a:endParaRPr lang="en-US" sz="1500" dirty="0"/>
          </a:p>
        </p:txBody>
      </p:sp>
      <p:sp>
        <p:nvSpPr>
          <p:cNvPr id="17" name="texto-79"/>
          <p:cNvSpPr txBox="1"/>
          <p:nvPr/>
        </p:nvSpPr>
        <p:spPr>
          <a:xfrm>
            <a:off x="7498080" y="2121408"/>
            <a:ext cx="1737360" cy="502920"/>
          </a:xfrm>
          <a:prstGeom prst="rect">
            <a:avLst/>
          </a:prstGeom>
          <a:noFill/>
          <a:ln/>
        </p:spPr>
        <p:txBody>
          <a:bodyPr wrap="square" lIns="0" tIns="0" rIns="0" bIns="0" rtlCol="0" anchor="ctr"/>
          <a:lstStyle/>
          <a:p>
            <a:pPr algn="ctr" indent="0" marL="0">
              <a:buNone/>
            </a:pPr>
            <a:r>
              <a:rPr lang="en-US" sz="1200" dirty="0">
                <a:solidFill>
                  <a:schemeClr val="bg1"/>
                </a:solidFill>
              </a:rPr>
              <a:t>log, escala, one-hot</a:t>
            </a:r>
            <a:endParaRPr lang="en-US" sz="1200" dirty="0"/>
          </a:p>
        </p:txBody>
      </p:sp>
      <p:sp>
        <p:nvSpPr>
          <p:cNvPr id="18" name="flecha-80"/>
          <p:cNvSpPr/>
          <p:nvPr/>
        </p:nvSpPr>
        <p:spPr>
          <a:xfrm>
            <a:off x="9381744" y="2011680"/>
            <a:ext cx="256032" cy="274320"/>
          </a:xfrm>
          <a:prstGeom prst="rightArrow">
            <a:avLst/>
          </a:prstGeom>
          <a:solidFill>
            <a:schemeClr val="accent4"/>
          </a:solidFill>
          <a:ln/>
        </p:spPr>
      </p:sp>
      <p:sp>
        <p:nvSpPr>
          <p:cNvPr id="19" name="tarjeta-81"/>
          <p:cNvSpPr/>
          <p:nvPr/>
        </p:nvSpPr>
        <p:spPr>
          <a:xfrm>
            <a:off x="9692640" y="1554480"/>
            <a:ext cx="1920240" cy="1188720"/>
          </a:xfrm>
          <a:prstGeom prst="roundRect">
            <a:avLst>
              <a:gd name="adj" fmla="val 6154"/>
            </a:avLst>
          </a:prstGeom>
          <a:solidFill>
            <a:schemeClr val="accent2"/>
          </a:solidFill>
          <a:ln/>
        </p:spPr>
      </p:sp>
      <p:sp>
        <p:nvSpPr>
          <p:cNvPr id="20" name="texto-82"/>
          <p:cNvSpPr txBox="1"/>
          <p:nvPr/>
        </p:nvSpPr>
        <p:spPr>
          <a:xfrm>
            <a:off x="9784080" y="1664208"/>
            <a:ext cx="1737360" cy="457200"/>
          </a:xfrm>
          <a:prstGeom prst="rect">
            <a:avLst/>
          </a:prstGeom>
          <a:noFill/>
          <a:ln/>
        </p:spPr>
        <p:txBody>
          <a:bodyPr wrap="square" lIns="0" tIns="0" rIns="0" bIns="0" rtlCol="0" anchor="ctr"/>
          <a:lstStyle/>
          <a:p>
            <a:pPr algn="ctr" indent="0" marL="0">
              <a:buNone/>
            </a:pPr>
            <a:r>
              <a:rPr lang="en-US" sz="1500" b="1" dirty="0">
                <a:solidFill>
                  <a:schemeClr val="bg1"/>
                </a:solidFill>
              </a:rPr>
              <a:t>Modelo</a:t>
            </a:r>
            <a:endParaRPr lang="en-US" sz="1500" dirty="0"/>
          </a:p>
        </p:txBody>
      </p:sp>
      <p:sp>
        <p:nvSpPr>
          <p:cNvPr id="21" name="texto-83"/>
          <p:cNvSpPr txBox="1"/>
          <p:nvPr/>
        </p:nvSpPr>
        <p:spPr>
          <a:xfrm>
            <a:off x="9784080" y="2121408"/>
            <a:ext cx="1737360" cy="502920"/>
          </a:xfrm>
          <a:prstGeom prst="rect">
            <a:avLst/>
          </a:prstGeom>
          <a:noFill/>
          <a:ln/>
        </p:spPr>
        <p:txBody>
          <a:bodyPr wrap="square" lIns="0" tIns="0" rIns="0" bIns="0" rtlCol="0" anchor="ctr"/>
          <a:lstStyle/>
          <a:p>
            <a:pPr algn="ctr" indent="0" marL="0">
              <a:buNone/>
            </a:pPr>
            <a:r>
              <a:rPr lang="en-US" sz="1200" dirty="0">
                <a:solidFill>
                  <a:schemeClr val="bg1"/>
                </a:solidFill>
              </a:rPr>
              <a:t>puntaje 0 a 1</a:t>
            </a:r>
            <a:endParaRPr lang="en-US" sz="1200" dirty="0"/>
          </a:p>
        </p:txBody>
      </p:sp>
      <p:sp>
        <p:nvSpPr>
          <p:cNvPr id="22" name="tarjeta-84"/>
          <p:cNvSpPr/>
          <p:nvPr/>
        </p:nvSpPr>
        <p:spPr>
          <a:xfrm>
            <a:off x="548640" y="3108960"/>
            <a:ext cx="3566160" cy="2606040"/>
          </a:xfrm>
          <a:prstGeom prst="roundRect">
            <a:avLst>
              <a:gd name="adj" fmla="val 2807"/>
            </a:avLst>
          </a:prstGeom>
          <a:solidFill>
            <a:schemeClr val="bg2"/>
          </a:solidFill>
          <a:ln/>
        </p:spPr>
      </p:sp>
      <p:sp>
        <p:nvSpPr>
          <p:cNvPr id="23" name="texto-85"/>
          <p:cNvSpPr txBox="1"/>
          <p:nvPr/>
        </p:nvSpPr>
        <p:spPr>
          <a:xfrm>
            <a:off x="731520" y="3218688"/>
            <a:ext cx="3200400" cy="365760"/>
          </a:xfrm>
          <a:prstGeom prst="rect">
            <a:avLst/>
          </a:prstGeom>
          <a:noFill/>
          <a:ln/>
        </p:spPr>
        <p:txBody>
          <a:bodyPr wrap="square" lIns="0" tIns="0" rIns="0" bIns="0" rtlCol="0" anchor="t"/>
          <a:lstStyle/>
          <a:p>
            <a:pPr indent="0" marL="0">
              <a:buNone/>
            </a:pPr>
            <a:r>
              <a:rPr lang="en-US" sz="1600" b="1" dirty="0">
                <a:solidFill>
                  <a:schemeClr val="tx2"/>
                </a:solidFill>
              </a:rPr>
              <a:t>Separación</a:t>
            </a:r>
            <a:endParaRPr lang="en-US" sz="1600" dirty="0"/>
          </a:p>
        </p:txBody>
      </p:sp>
      <p:sp>
        <p:nvSpPr>
          <p:cNvPr id="24" name="texto-86"/>
          <p:cNvSpPr txBox="1"/>
          <p:nvPr/>
        </p:nvSpPr>
        <p:spPr>
          <a:xfrm>
            <a:off x="731520" y="3657600"/>
            <a:ext cx="3200400" cy="1965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Train 60%: ajuste y validación cruzada (5 particiones)</a:t>
            </a:r>
            <a:endParaRPr lang="en-US" sz="1500" dirty="0"/>
          </a:p>
          <a:p>
            <a:pPr marL="342900" indent="-342900">
              <a:spcAft>
                <a:spcPts val="600"/>
              </a:spcAft>
              <a:buSzPct val="100000"/>
              <a:buChar char="•"/>
            </a:pPr>
            <a:r>
              <a:rPr lang="en-US" sz="1400" dirty="0">
                <a:solidFill>
                  <a:schemeClr val="tx1"/>
                </a:solidFill>
              </a:rPr>
              <a:t>Validation 20%: comparar modelos y fijar el umbral</a:t>
            </a:r>
            <a:endParaRPr lang="en-US" sz="1500" dirty="0"/>
          </a:p>
          <a:p>
            <a:pPr marL="342900" indent="-342900">
              <a:spcAft>
                <a:spcPts val="600"/>
              </a:spcAft>
              <a:buSzPct val="100000"/>
              <a:buChar char="•"/>
            </a:pPr>
            <a:r>
              <a:rPr lang="en-US" sz="1400" dirty="0">
                <a:solidFill>
                  <a:schemeClr val="tx1"/>
                </a:solidFill>
              </a:rPr>
              <a:t>Test 20%: sin usar hasta el TF1</a:t>
            </a:r>
            <a:endParaRPr lang="en-US" sz="1500" dirty="0"/>
          </a:p>
        </p:txBody>
      </p:sp>
      <p:sp>
        <p:nvSpPr>
          <p:cNvPr id="25" name="tarjeta-87"/>
          <p:cNvSpPr/>
          <p:nvPr/>
        </p:nvSpPr>
        <p:spPr>
          <a:xfrm>
            <a:off x="4297680" y="3108960"/>
            <a:ext cx="3566160" cy="2606040"/>
          </a:xfrm>
          <a:prstGeom prst="roundRect">
            <a:avLst>
              <a:gd name="adj" fmla="val 2807"/>
            </a:avLst>
          </a:prstGeom>
          <a:solidFill>
            <a:schemeClr val="bg2"/>
          </a:solidFill>
          <a:ln/>
        </p:spPr>
      </p:sp>
      <p:sp>
        <p:nvSpPr>
          <p:cNvPr id="26" name="texto-88"/>
          <p:cNvSpPr txBox="1"/>
          <p:nvPr/>
        </p:nvSpPr>
        <p:spPr>
          <a:xfrm>
            <a:off x="4480560" y="3218688"/>
            <a:ext cx="3200400" cy="365760"/>
          </a:xfrm>
          <a:prstGeom prst="rect">
            <a:avLst/>
          </a:prstGeom>
          <a:noFill/>
          <a:ln/>
        </p:spPr>
        <p:txBody>
          <a:bodyPr wrap="square" lIns="0" tIns="0" rIns="0" bIns="0" rtlCol="0" anchor="t"/>
          <a:lstStyle/>
          <a:p>
            <a:pPr indent="0" marL="0">
              <a:buNone/>
            </a:pPr>
            <a:r>
              <a:rPr lang="en-US" sz="1600" b="1" dirty="0">
                <a:solidFill>
                  <a:schemeClr val="tx2"/>
                </a:solidFill>
              </a:rPr>
              <a:t>Preparación</a:t>
            </a:r>
            <a:endParaRPr lang="en-US" sz="1600" dirty="0"/>
          </a:p>
        </p:txBody>
      </p:sp>
      <p:sp>
        <p:nvSpPr>
          <p:cNvPr id="27" name="texto-89"/>
          <p:cNvSpPr txBox="1"/>
          <p:nvPr/>
        </p:nvSpPr>
        <p:spPr>
          <a:xfrm>
            <a:off x="4480560" y="3657600"/>
            <a:ext cx="3200400" cy="1965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Faltantes como categoría unknown: son informativos</a:t>
            </a:r>
            <a:endParaRPr lang="en-US" sz="1500" dirty="0"/>
          </a:p>
          <a:p>
            <a:pPr marL="342900" indent="-342900">
              <a:spcAft>
                <a:spcPts val="600"/>
              </a:spcAft>
              <a:buSzPct val="100000"/>
              <a:buChar char="•"/>
            </a:pPr>
            <a:r>
              <a:rPr lang="en-US" sz="1400" dirty="0">
                <a:solidFill>
                  <a:schemeClr val="tx1"/>
                </a:solidFill>
              </a:rPr>
              <a:t>pdays = -1 es un código, no una cantidad de días</a:t>
            </a:r>
            <a:endParaRPr lang="en-US" sz="1500" dirty="0"/>
          </a:p>
          <a:p>
            <a:pPr marL="342900" indent="-342900">
              <a:spcAft>
                <a:spcPts val="600"/>
              </a:spcAft>
              <a:buSzPct val="100000"/>
              <a:buChar char="•"/>
            </a:pPr>
            <a:r>
              <a:rPr lang="en-US" sz="1400" dirty="0">
                <a:solidFill>
                  <a:schemeClr val="tx1"/>
                </a:solidFill>
              </a:rPr>
              <a:t>Logaritmo para extremos; no se eliminó ninguna fila</a:t>
            </a:r>
            <a:endParaRPr lang="en-US" sz="1500" dirty="0"/>
          </a:p>
        </p:txBody>
      </p:sp>
      <p:sp>
        <p:nvSpPr>
          <p:cNvPr id="28" name="tarjeta-90"/>
          <p:cNvSpPr/>
          <p:nvPr/>
        </p:nvSpPr>
        <p:spPr>
          <a:xfrm>
            <a:off x="8046720" y="3108960"/>
            <a:ext cx="3566160" cy="2606040"/>
          </a:xfrm>
          <a:prstGeom prst="roundRect">
            <a:avLst>
              <a:gd name="adj" fmla="val 2807"/>
            </a:avLst>
          </a:prstGeom>
          <a:solidFill>
            <a:schemeClr val="bg2"/>
          </a:solidFill>
          <a:ln/>
        </p:spPr>
      </p:sp>
      <p:sp>
        <p:nvSpPr>
          <p:cNvPr id="29" name="texto-91"/>
          <p:cNvSpPr txBox="1"/>
          <p:nvPr/>
        </p:nvSpPr>
        <p:spPr>
          <a:xfrm>
            <a:off x="8229600" y="3218688"/>
            <a:ext cx="3200400" cy="365760"/>
          </a:xfrm>
          <a:prstGeom prst="rect">
            <a:avLst/>
          </a:prstGeom>
          <a:noFill/>
          <a:ln/>
        </p:spPr>
        <p:txBody>
          <a:bodyPr wrap="square" lIns="0" tIns="0" rIns="0" bIns="0" rtlCol="0" anchor="t"/>
          <a:lstStyle/>
          <a:p>
            <a:pPr indent="0" marL="0">
              <a:buNone/>
            </a:pPr>
            <a:r>
              <a:rPr lang="en-US" sz="1600" b="1" dirty="0">
                <a:solidFill>
                  <a:schemeClr val="tx2"/>
                </a:solidFill>
              </a:rPr>
              <a:t>Contra el leakage</a:t>
            </a:r>
            <a:endParaRPr lang="en-US" sz="1600" dirty="0"/>
          </a:p>
        </p:txBody>
      </p:sp>
      <p:sp>
        <p:nvSpPr>
          <p:cNvPr id="30" name="texto-92"/>
          <p:cNvSpPr txBox="1"/>
          <p:nvPr/>
        </p:nvSpPr>
        <p:spPr>
          <a:xfrm>
            <a:off x="8229600" y="3657600"/>
            <a:ext cx="3200400" cy="1965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duration fuera del modelo</a:t>
            </a:r>
            <a:endParaRPr lang="en-US" sz="1500" dirty="0"/>
          </a:p>
          <a:p>
            <a:pPr marL="342900" indent="-342900">
              <a:spcAft>
                <a:spcPts val="600"/>
              </a:spcAft>
              <a:buSzPct val="100000"/>
              <a:buChar char="•"/>
            </a:pPr>
            <a:r>
              <a:rPr lang="en-US" sz="1400" dirty="0">
                <a:solidFill>
                  <a:schemeClr val="tx1"/>
                </a:solidFill>
              </a:rPr>
              <a:t>Split antes del EDA con la variable objetivo</a:t>
            </a:r>
            <a:endParaRPr lang="en-US" sz="1500" dirty="0"/>
          </a:p>
          <a:p>
            <a:pPr marL="342900" indent="-342900">
              <a:spcAft>
                <a:spcPts val="600"/>
              </a:spcAft>
              <a:buSzPct val="100000"/>
              <a:buChar char="•"/>
            </a:pPr>
            <a:r>
              <a:rPr lang="en-US" sz="1400" dirty="0">
                <a:solidFill>
                  <a:schemeClr val="tx1"/>
                </a:solidFill>
              </a:rPr>
              <a:t>Escalado y one-hot dentro del Pipeline</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000" b="1" dirty="0">
                <a:solidFill>
                  <a:schemeClr val="tx2"/>
                </a:solidFill>
              </a:rPr>
              <a:t>En validación, el modelo capta 63% llamando al 20% de la lista</a:t>
            </a:r>
            <a:endParaRPr lang="en-US" sz="3000" dirty="0"/>
          </a:p>
        </p:txBody>
      </p:sp>
      <p:graphicFrame>
        <p:nvGraphicFramePr>
          <p:cNvPr id="3" name="grafico-93" descr=""/>
          <p:cNvGraphicFramePr/>
          <p:nvPr/>
        </p:nvGraphicFramePr>
        <p:xfrm>
          <a:off x="548640" y="1463040"/>
          <a:ext cx="7223760" cy="4297680"/>
        </p:xfrm>
        <a:graphic xmlns:a="http://schemas.openxmlformats.org/drawingml/2006/main">
          <a:graphicData uri="http://schemas.openxmlformats.org/drawingml/2006/chart">
            <c:chart xmlns:c="http://schemas.openxmlformats.org/drawingml/2006/chart" r:id="rId1"/>
          </a:graphicData>
        </a:graphic>
      </p:graphicFrame>
      <p:sp>
        <p:nvSpPr>
          <p:cNvPr id="4" name="texto-94"/>
          <p:cNvSpPr txBox="1"/>
          <p:nvPr/>
        </p:nvSpPr>
        <p:spPr>
          <a:xfrm>
            <a:off x="548640" y="5852160"/>
            <a:ext cx="7223760" cy="274320"/>
          </a:xfrm>
          <a:prstGeom prst="rect">
            <a:avLst/>
          </a:prstGeom>
          <a:noFill/>
          <a:ln/>
        </p:spPr>
        <p:txBody>
          <a:bodyPr wrap="square" lIns="0" tIns="0" rIns="0" bIns="0" rtlCol="0" anchor="t"/>
          <a:lstStyle/>
          <a:p>
            <a:pPr indent="0" marL="0">
              <a:buNone/>
            </a:pPr>
            <a:r>
              <a:rPr lang="en-US" sz="1100" dirty="0">
                <a:solidFill>
                  <a:schemeClr val="accent4"/>
                </a:solidFill>
              </a:rPr>
              <a:t>Criterio de éxito: 50%. Conjunto de validación (9,042 contactos).</a:t>
            </a:r>
            <a:endParaRPr lang="en-US" sz="1100" dirty="0"/>
          </a:p>
        </p:txBody>
      </p:sp>
      <p:sp>
        <p:nvSpPr>
          <p:cNvPr id="5" name="tarjeta-95"/>
          <p:cNvSpPr/>
          <p:nvPr/>
        </p:nvSpPr>
        <p:spPr>
          <a:xfrm>
            <a:off x="8138160" y="1463040"/>
            <a:ext cx="3474720" cy="1371600"/>
          </a:xfrm>
          <a:prstGeom prst="roundRect">
            <a:avLst>
              <a:gd name="adj" fmla="val 5333"/>
            </a:avLst>
          </a:prstGeom>
          <a:solidFill>
            <a:schemeClr val="bg2"/>
          </a:solidFill>
          <a:ln/>
        </p:spPr>
      </p:sp>
      <p:sp>
        <p:nvSpPr>
          <p:cNvPr id="6" name="texto-96"/>
          <p:cNvSpPr txBox="1"/>
          <p:nvPr/>
        </p:nvSpPr>
        <p:spPr>
          <a:xfrm>
            <a:off x="8321040" y="1600200"/>
            <a:ext cx="3108960" cy="713232"/>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3.2x</a:t>
            </a:r>
            <a:endParaRPr lang="en-US" sz="3400" dirty="0"/>
          </a:p>
        </p:txBody>
      </p:sp>
      <p:sp>
        <p:nvSpPr>
          <p:cNvPr id="7" name="texto-97"/>
          <p:cNvSpPr txBox="1"/>
          <p:nvPr/>
        </p:nvSpPr>
        <p:spPr>
          <a:xfrm>
            <a:off x="8321040" y="2313432"/>
            <a:ext cx="3108960" cy="429768"/>
          </a:xfrm>
          <a:prstGeom prst="rect">
            <a:avLst/>
          </a:prstGeom>
          <a:noFill/>
          <a:ln/>
        </p:spPr>
        <p:txBody>
          <a:bodyPr wrap="square" lIns="0" tIns="0" rIns="0" bIns="0" rtlCol="0" anchor="t"/>
          <a:lstStyle/>
          <a:p>
            <a:pPr indent="0" marL="0">
              <a:buNone/>
            </a:pPr>
            <a:r>
              <a:rPr lang="en-US" sz="1400" dirty="0">
                <a:solidFill>
                  <a:schemeClr val="tx1"/>
                </a:solidFill>
              </a:rPr>
              <a:t>mejor que llamar al azar</a:t>
            </a:r>
            <a:endParaRPr lang="en-US" sz="1400" dirty="0"/>
          </a:p>
        </p:txBody>
      </p:sp>
      <p:sp>
        <p:nvSpPr>
          <p:cNvPr id="8" name="tarjeta-98"/>
          <p:cNvSpPr/>
          <p:nvPr/>
        </p:nvSpPr>
        <p:spPr>
          <a:xfrm>
            <a:off x="8138160" y="3017520"/>
            <a:ext cx="3474720" cy="1371600"/>
          </a:xfrm>
          <a:prstGeom prst="roundRect">
            <a:avLst>
              <a:gd name="adj" fmla="val 5333"/>
            </a:avLst>
          </a:prstGeom>
          <a:solidFill>
            <a:schemeClr val="bg2"/>
          </a:solidFill>
          <a:ln/>
        </p:spPr>
      </p:sp>
      <p:sp>
        <p:nvSpPr>
          <p:cNvPr id="9" name="texto-99"/>
          <p:cNvSpPr txBox="1"/>
          <p:nvPr/>
        </p:nvSpPr>
        <p:spPr>
          <a:xfrm>
            <a:off x="8321040" y="3154680"/>
            <a:ext cx="3108960" cy="713232"/>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1.7x</a:t>
            </a:r>
            <a:endParaRPr lang="en-US" sz="3400" dirty="0"/>
          </a:p>
        </p:txBody>
      </p:sp>
      <p:sp>
        <p:nvSpPr>
          <p:cNvPr id="10" name="texto-100"/>
          <p:cNvSpPr txBox="1"/>
          <p:nvPr/>
        </p:nvSpPr>
        <p:spPr>
          <a:xfrm>
            <a:off x="8321040" y="3867912"/>
            <a:ext cx="3108960" cy="429768"/>
          </a:xfrm>
          <a:prstGeom prst="rect">
            <a:avLst/>
          </a:prstGeom>
          <a:noFill/>
          <a:ln/>
        </p:spPr>
        <p:txBody>
          <a:bodyPr wrap="square" lIns="0" tIns="0" rIns="0" bIns="0" rtlCol="0" anchor="t"/>
          <a:lstStyle/>
          <a:p>
            <a:pPr indent="0" marL="0">
              <a:buNone/>
            </a:pPr>
            <a:r>
              <a:rPr lang="en-US" sz="1400" dirty="0">
                <a:solidFill>
                  <a:schemeClr val="tx1"/>
                </a:solidFill>
              </a:rPr>
              <a:t>mejor que la regla de negocio</a:t>
            </a:r>
            <a:endParaRPr lang="en-US" sz="1400" dirty="0"/>
          </a:p>
        </p:txBody>
      </p:sp>
      <p:sp>
        <p:nvSpPr>
          <p:cNvPr id="11" name="tarjeta-101"/>
          <p:cNvSpPr/>
          <p:nvPr/>
        </p:nvSpPr>
        <p:spPr>
          <a:xfrm>
            <a:off x="8138160" y="4572000"/>
            <a:ext cx="3474720" cy="1554480"/>
          </a:xfrm>
          <a:prstGeom prst="roundRect">
            <a:avLst>
              <a:gd name="adj" fmla="val 4706"/>
            </a:avLst>
          </a:prstGeom>
          <a:solidFill>
            <a:schemeClr val="bg2"/>
          </a:solidFill>
          <a:ln/>
        </p:spPr>
      </p:sp>
      <p:sp>
        <p:nvSpPr>
          <p:cNvPr id="12" name="texto-102"/>
          <p:cNvSpPr txBox="1"/>
          <p:nvPr/>
        </p:nvSpPr>
        <p:spPr>
          <a:xfrm>
            <a:off x="8321040" y="4663440"/>
            <a:ext cx="3108960" cy="1371600"/>
          </a:xfrm>
          <a:prstGeom prst="rect">
            <a:avLst/>
          </a:prstGeom>
          <a:noFill/>
          <a:ln/>
        </p:spPr>
        <p:txBody>
          <a:bodyPr wrap="square" lIns="0" tIns="0" rIns="0" bIns="0" rtlCol="0" anchor="ctr"/>
          <a:lstStyle/>
          <a:p>
            <a:pPr indent="0" marL="0">
              <a:buNone/>
            </a:pPr>
            <a:r>
              <a:rPr lang="en-US" sz="1300" dirty="0">
                <a:solidFill>
                  <a:schemeClr val="tx1"/>
                </a:solidFill>
              </a:rPr>
              <a:t>Random Forest y boosting están empatados. Boosting queda como modelo preliminar por razones prácticas, no porque sea mejor.</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000" b="1" dirty="0">
                <a:solidFill>
                  <a:schemeClr val="tx2"/>
                </a:solidFill>
              </a:rPr>
              <a:t>Entrenando con el pasado, la ventaja casi desaparece</a:t>
            </a:r>
            <a:endParaRPr lang="en-US" sz="3000" dirty="0"/>
          </a:p>
        </p:txBody>
      </p:sp>
      <p:graphicFrame>
        <p:nvGraphicFramePr>
          <p:cNvPr id="3" name="grafico-103" descr=""/>
          <p:cNvGraphicFramePr/>
          <p:nvPr/>
        </p:nvGraphicFramePr>
        <p:xfrm>
          <a:off x="548640" y="1463040"/>
          <a:ext cx="7223760" cy="4297680"/>
        </p:xfrm>
        <a:graphic xmlns:a="http://schemas.openxmlformats.org/drawingml/2006/main">
          <a:graphicData uri="http://schemas.openxmlformats.org/drawingml/2006/chart">
            <c:chart xmlns:c="http://schemas.openxmlformats.org/drawingml/2006/chart" r:id="rId1"/>
          </a:graphicData>
        </a:graphic>
      </p:graphicFrame>
      <p:sp>
        <p:nvSpPr>
          <p:cNvPr id="4" name="texto-104"/>
          <p:cNvSpPr txBox="1"/>
          <p:nvPr/>
        </p:nvSpPr>
        <p:spPr>
          <a:xfrm>
            <a:off x="548640" y="5852160"/>
            <a:ext cx="7223760" cy="274320"/>
          </a:xfrm>
          <a:prstGeom prst="rect">
            <a:avLst/>
          </a:prstGeom>
          <a:noFill/>
          <a:ln/>
        </p:spPr>
        <p:txBody>
          <a:bodyPr wrap="square" lIns="0" tIns="0" rIns="0" bIns="0" rtlCol="0" anchor="t"/>
          <a:lstStyle/>
          <a:p>
            <a:pPr indent="0" marL="0">
              <a:buNone/>
            </a:pPr>
            <a:r>
              <a:rPr lang="en-US" sz="1100" dirty="0">
                <a:solidFill>
                  <a:schemeClr val="accent4"/>
                </a:solidFill>
              </a:rPr>
              <a:t>Prueba temporal: entrenar con el 80% más antiguo y evaluar en el 20% más reciente.</a:t>
            </a:r>
            <a:endParaRPr lang="en-US" sz="1100" dirty="0"/>
          </a:p>
        </p:txBody>
      </p:sp>
      <p:sp>
        <p:nvSpPr>
          <p:cNvPr id="5" name="tarjeta-105"/>
          <p:cNvSpPr/>
          <p:nvPr/>
        </p:nvSpPr>
        <p:spPr>
          <a:xfrm>
            <a:off x="8138160" y="1463040"/>
            <a:ext cx="3474720" cy="2103120"/>
          </a:xfrm>
          <a:prstGeom prst="roundRect">
            <a:avLst>
              <a:gd name="adj" fmla="val 3478"/>
            </a:avLst>
          </a:prstGeom>
          <a:solidFill>
            <a:schemeClr val="tx2"/>
          </a:solidFill>
          <a:ln/>
        </p:spPr>
      </p:sp>
      <p:sp>
        <p:nvSpPr>
          <p:cNvPr id="6" name="texto-106"/>
          <p:cNvSpPr txBox="1"/>
          <p:nvPr/>
        </p:nvSpPr>
        <p:spPr>
          <a:xfrm>
            <a:off x="8321040" y="1554480"/>
            <a:ext cx="3108960" cy="82296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34.0%</a:t>
            </a:r>
            <a:endParaRPr lang="en-US" sz="4000" dirty="0"/>
          </a:p>
        </p:txBody>
      </p:sp>
      <p:sp>
        <p:nvSpPr>
          <p:cNvPr id="7" name="texto-107"/>
          <p:cNvSpPr txBox="1"/>
          <p:nvPr/>
        </p:nvSpPr>
        <p:spPr>
          <a:xfrm>
            <a:off x="8321040" y="2423160"/>
            <a:ext cx="3108960" cy="1051560"/>
          </a:xfrm>
          <a:prstGeom prst="rect">
            <a:avLst/>
          </a:prstGeom>
          <a:noFill/>
          <a:ln/>
        </p:spPr>
        <p:txBody>
          <a:bodyPr wrap="square" lIns="0" tIns="0" rIns="0" bIns="0" rtlCol="0" anchor="t"/>
          <a:lstStyle/>
          <a:p>
            <a:pPr indent="0" marL="0">
              <a:buNone/>
            </a:pPr>
            <a:r>
              <a:rPr lang="en-US" sz="1400" dirty="0">
                <a:solidFill>
                  <a:schemeClr val="bg1"/>
                </a:solidFill>
              </a:rPr>
              <a:t>de captura del modelo preliminar: no llega al 50% y supera a la regla por solo 1.6 puntos</a:t>
            </a:r>
            <a:endParaRPr lang="en-US" sz="1400" dirty="0"/>
          </a:p>
        </p:txBody>
      </p:sp>
      <p:sp>
        <p:nvSpPr>
          <p:cNvPr id="8" name="tarjeta-108"/>
          <p:cNvSpPr/>
          <p:nvPr/>
        </p:nvSpPr>
        <p:spPr>
          <a:xfrm>
            <a:off x="8138160" y="3749040"/>
            <a:ext cx="3474720" cy="2377440"/>
          </a:xfrm>
          <a:prstGeom prst="roundRect">
            <a:avLst>
              <a:gd name="adj" fmla="val 3077"/>
            </a:avLst>
          </a:prstGeom>
          <a:solidFill>
            <a:schemeClr val="bg2"/>
          </a:solidFill>
          <a:ln/>
        </p:spPr>
      </p:sp>
      <p:sp>
        <p:nvSpPr>
          <p:cNvPr id="9" name="texto-109"/>
          <p:cNvSpPr txBox="1"/>
          <p:nvPr/>
        </p:nvSpPr>
        <p:spPr>
          <a:xfrm>
            <a:off x="8321040" y="3840480"/>
            <a:ext cx="3108960" cy="320040"/>
          </a:xfrm>
          <a:prstGeom prst="rect">
            <a:avLst/>
          </a:prstGeom>
          <a:noFill/>
          <a:ln/>
        </p:spPr>
        <p:txBody>
          <a:bodyPr wrap="square" lIns="0" tIns="0" rIns="0" bIns="0" rtlCol="0" anchor="t"/>
          <a:lstStyle/>
          <a:p>
            <a:pPr indent="0" marL="0">
              <a:buNone/>
            </a:pPr>
            <a:r>
              <a:rPr lang="en-US" sz="1400" b="1" dirty="0">
                <a:solidFill>
                  <a:schemeClr val="accent1"/>
                </a:solidFill>
              </a:rPr>
              <a:t>Por qué creemos que ocurre</a:t>
            </a:r>
            <a:endParaRPr lang="en-US" sz="1400" dirty="0"/>
          </a:p>
        </p:txBody>
      </p:sp>
      <p:sp>
        <p:nvSpPr>
          <p:cNvPr id="10" name="texto-110"/>
          <p:cNvSpPr txBox="1"/>
          <p:nvPr/>
        </p:nvSpPr>
        <p:spPr>
          <a:xfrm>
            <a:off x="8321040" y="4206240"/>
            <a:ext cx="3108960" cy="1828800"/>
          </a:xfrm>
          <a:prstGeom prst="rect">
            <a:avLst/>
          </a:prstGeom>
          <a:noFill/>
          <a:ln/>
        </p:spPr>
        <p:txBody>
          <a:bodyPr wrap="square" lIns="0" tIns="0" rIns="0" bIns="0" rtlCol="0" anchor="t"/>
          <a:lstStyle/>
          <a:p>
            <a:pPr indent="0" marL="0">
              <a:buNone/>
            </a:pPr>
            <a:r>
              <a:rPr lang="en-US" sz="1450" dirty="0">
                <a:solidFill>
                  <a:schemeClr val="tx1"/>
                </a:solidFill>
              </a:rPr>
              <a:t>La tasa de suscripción pasa de 6.8% en el tramo antiguo a 31.3% en el reciente. El modelo aprendió de campañas masivas que no se parecen a las últimas. Es una hipótesis.</a:t>
            </a:r>
            <a:endParaRPr lang="en-US" sz="145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lIns="0" tIns="0" rIns="0" bIns="0" rtlCol="0" anchor="ctr"/>
          <a:lstStyle/>
          <a:p>
            <a:pPr algn="l" indent="0" marL="0">
              <a:buNone/>
            </a:pPr>
            <a:r>
              <a:rPr lang="en-US" sz="3000" b="1" dirty="0">
                <a:solidFill>
                  <a:schemeClr val="tx2"/>
                </a:solidFill>
              </a:rPr>
              <a:t>Qué queda abierto y qué haremos para el Trabajo Final</a:t>
            </a:r>
            <a:endParaRPr lang="en-US" sz="3000" dirty="0"/>
          </a:p>
        </p:txBody>
      </p:sp>
      <p:sp>
        <p:nvSpPr>
          <p:cNvPr id="3" name="texto-111"/>
          <p:cNvSpPr txBox="1"/>
          <p:nvPr/>
        </p:nvSpPr>
        <p:spPr>
          <a:xfrm>
            <a:off x="548640" y="1508760"/>
            <a:ext cx="4754880" cy="365760"/>
          </a:xfrm>
          <a:prstGeom prst="rect">
            <a:avLst/>
          </a:prstGeom>
          <a:noFill/>
          <a:ln/>
        </p:spPr>
        <p:txBody>
          <a:bodyPr wrap="square" lIns="0" tIns="0" rIns="0" bIns="0" rtlCol="0" anchor="t"/>
          <a:lstStyle/>
          <a:p>
            <a:pPr indent="0" marL="0">
              <a:buNone/>
            </a:pPr>
            <a:r>
              <a:rPr lang="en-US" sz="1600" b="1" dirty="0">
                <a:solidFill>
                  <a:schemeClr val="accent5"/>
                </a:solidFill>
              </a:rPr>
              <a:t>Problemas no resueltos</a:t>
            </a:r>
            <a:endParaRPr lang="en-US" sz="1600" dirty="0"/>
          </a:p>
        </p:txBody>
      </p:sp>
      <p:sp>
        <p:nvSpPr>
          <p:cNvPr id="4" name="texto-112"/>
          <p:cNvSpPr txBox="1"/>
          <p:nvPr/>
        </p:nvSpPr>
        <p:spPr>
          <a:xfrm>
            <a:off x="548640" y="1965960"/>
            <a:ext cx="4754880" cy="2377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No sabemos cuánto rinde el modelo en una campaña nueva</a:t>
            </a:r>
            <a:endParaRPr lang="en-US" sz="1500" dirty="0"/>
          </a:p>
          <a:p>
            <a:pPr marL="342900" indent="-342900">
              <a:spcAft>
                <a:spcPts val="600"/>
              </a:spcAft>
              <a:buSzPct val="100000"/>
              <a:buChar char="•"/>
            </a:pPr>
            <a:r>
              <a:rPr lang="en-US" sz="1500" dirty="0">
                <a:solidFill>
                  <a:schemeClr val="tx1"/>
                </a:solidFill>
              </a:rPr>
              <a:t>Random Forest y boosting siguen empatados</a:t>
            </a:r>
            <a:endParaRPr lang="en-US" sz="1500" dirty="0"/>
          </a:p>
          <a:p>
            <a:pPr marL="342900" indent="-342900">
              <a:spcAft>
                <a:spcPts val="600"/>
              </a:spcAft>
              <a:buSzPct val="100000"/>
              <a:buChar char="•"/>
            </a:pPr>
            <a:r>
              <a:rPr lang="en-US" sz="1500" dirty="0">
                <a:solidFill>
                  <a:schemeClr val="tx1"/>
                </a:solidFill>
              </a:rPr>
              <a:t>Puntajes sin calibrar; umbral basado en un supuesto</a:t>
            </a:r>
            <a:endParaRPr lang="en-US" sz="1500" dirty="0"/>
          </a:p>
          <a:p>
            <a:pPr marL="342900" indent="-342900">
              <a:spcAft>
                <a:spcPts val="600"/>
              </a:spcAft>
              <a:buSzPct val="100000"/>
              <a:buChar char="•"/>
            </a:pPr>
            <a:r>
              <a:rPr lang="en-US" sz="1500" dirty="0">
                <a:solidFill>
                  <a:schemeClr val="tx1"/>
                </a:solidFill>
              </a:rPr>
              <a:t>month y contact = unknown marcan el periodo</a:t>
            </a:r>
            <a:endParaRPr lang="en-US" sz="1500" dirty="0"/>
          </a:p>
        </p:txBody>
      </p:sp>
      <p:sp>
        <p:nvSpPr>
          <p:cNvPr id="5" name="tarjeta-113"/>
          <p:cNvSpPr/>
          <p:nvPr/>
        </p:nvSpPr>
        <p:spPr>
          <a:xfrm>
            <a:off x="548640" y="4343400"/>
            <a:ext cx="4754880" cy="1463040"/>
          </a:xfrm>
          <a:prstGeom prst="roundRect">
            <a:avLst>
              <a:gd name="adj" fmla="val 5000"/>
            </a:avLst>
          </a:prstGeom>
          <a:solidFill>
            <a:schemeClr val="bg2"/>
          </a:solidFill>
          <a:ln/>
        </p:spPr>
      </p:sp>
      <p:sp>
        <p:nvSpPr>
          <p:cNvPr id="6" name="texto-114"/>
          <p:cNvSpPr txBox="1"/>
          <p:nvPr/>
        </p:nvSpPr>
        <p:spPr>
          <a:xfrm>
            <a:off x="731520" y="4453128"/>
            <a:ext cx="4389120" cy="320040"/>
          </a:xfrm>
          <a:prstGeom prst="rect">
            <a:avLst/>
          </a:prstGeom>
          <a:noFill/>
          <a:ln/>
        </p:spPr>
        <p:txBody>
          <a:bodyPr wrap="square" lIns="0" tIns="0" rIns="0" bIns="0" rtlCol="0" anchor="t"/>
          <a:lstStyle/>
          <a:p>
            <a:pPr indent="0" marL="0">
              <a:buNone/>
            </a:pPr>
            <a:r>
              <a:rPr lang="en-US" sz="1400" b="1" dirty="0">
                <a:solidFill>
                  <a:schemeClr val="tx2"/>
                </a:solidFill>
              </a:rPr>
              <a:t>Lo que no se puede concluir</a:t>
            </a:r>
            <a:endParaRPr lang="en-US" sz="1400" dirty="0"/>
          </a:p>
        </p:txBody>
      </p:sp>
      <p:sp>
        <p:nvSpPr>
          <p:cNvPr id="7" name="texto-115"/>
          <p:cNvSpPr txBox="1"/>
          <p:nvPr/>
        </p:nvSpPr>
        <p:spPr>
          <a:xfrm>
            <a:off x="731520" y="4818888"/>
            <a:ext cx="4389120" cy="914400"/>
          </a:xfrm>
          <a:prstGeom prst="rect">
            <a:avLst/>
          </a:prstGeom>
          <a:noFill/>
          <a:ln/>
        </p:spPr>
        <p:txBody>
          <a:bodyPr wrap="square" lIns="0" tIns="0" rIns="0" bIns="0" rtlCol="0" anchor="t"/>
          <a:lstStyle/>
          <a:p>
            <a:pPr indent="0" marL="0">
              <a:buNone/>
            </a:pPr>
            <a:r>
              <a:rPr lang="en-US" sz="1400" dirty="0">
                <a:solidFill>
                  <a:schemeClr val="tx1"/>
                </a:solidFill>
              </a:rPr>
              <a:t>El modelo describe asociaciones, no causas, y no hay base para generalizar a otro banco o época.</a:t>
            </a:r>
            <a:endParaRPr lang="en-US" sz="1400" dirty="0"/>
          </a:p>
        </p:txBody>
      </p:sp>
      <p:sp>
        <p:nvSpPr>
          <p:cNvPr id="8" name="texto-116"/>
          <p:cNvSpPr txBox="1"/>
          <p:nvPr/>
        </p:nvSpPr>
        <p:spPr>
          <a:xfrm>
            <a:off x="5760720" y="1508760"/>
            <a:ext cx="5852160" cy="365760"/>
          </a:xfrm>
          <a:prstGeom prst="rect">
            <a:avLst/>
          </a:prstGeom>
          <a:noFill/>
          <a:ln/>
        </p:spPr>
        <p:txBody>
          <a:bodyPr wrap="square" lIns="0" tIns="0" rIns="0" bIns="0" rtlCol="0" anchor="t"/>
          <a:lstStyle/>
          <a:p>
            <a:pPr indent="0" marL="0">
              <a:buNone/>
            </a:pPr>
            <a:r>
              <a:rPr lang="en-US" sz="1600" b="1" dirty="0">
                <a:solidFill>
                  <a:schemeClr val="accent1"/>
                </a:solidFill>
              </a:rPr>
              <a:t>Plan hacia el TF1</a:t>
            </a:r>
            <a:endParaRPr lang="en-US" sz="1600" dirty="0"/>
          </a:p>
        </p:txBody>
      </p:sp>
      <p:sp>
        <p:nvSpPr>
          <p:cNvPr id="9" name="numero-117"/>
          <p:cNvSpPr/>
          <p:nvPr/>
        </p:nvSpPr>
        <p:spPr>
          <a:xfrm>
            <a:off x="5760720" y="1965960"/>
            <a:ext cx="457200" cy="457200"/>
          </a:xfrm>
          <a:prstGeom prst="ellipse">
            <a:avLst/>
          </a:prstGeom>
          <a:solidFill>
            <a:schemeClr val="accent1"/>
          </a:solidFill>
          <a:ln/>
        </p:spPr>
      </p:sp>
      <p:sp>
        <p:nvSpPr>
          <p:cNvPr id="10" name="texto-118"/>
          <p:cNvSpPr txBox="1"/>
          <p:nvPr/>
        </p:nvSpPr>
        <p:spPr>
          <a:xfrm>
            <a:off x="5760720" y="1965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1" name="texto-119"/>
          <p:cNvSpPr txBox="1"/>
          <p:nvPr/>
        </p:nvSpPr>
        <p:spPr>
          <a:xfrm>
            <a:off x="6400800" y="1929384"/>
            <a:ext cx="5212080" cy="292608"/>
          </a:xfrm>
          <a:prstGeom prst="rect">
            <a:avLst/>
          </a:prstGeom>
          <a:noFill/>
          <a:ln/>
        </p:spPr>
        <p:txBody>
          <a:bodyPr wrap="square" lIns="0" tIns="0" rIns="0" bIns="0" rtlCol="0" anchor="t"/>
          <a:lstStyle/>
          <a:p>
            <a:pPr indent="0" marL="0">
              <a:buNone/>
            </a:pPr>
            <a:r>
              <a:rPr lang="en-US" sz="1500" b="1" dirty="0">
                <a:solidFill>
                  <a:schemeClr val="tx1"/>
                </a:solidFill>
              </a:rPr>
              <a:t>Validación temporal como esquema principal</a:t>
            </a:r>
            <a:endParaRPr lang="en-US" sz="1500" dirty="0"/>
          </a:p>
        </p:txBody>
      </p:sp>
      <p:sp>
        <p:nvSpPr>
          <p:cNvPr id="12" name="texto-120"/>
          <p:cNvSpPr txBox="1"/>
          <p:nvPr/>
        </p:nvSpPr>
        <p:spPr>
          <a:xfrm>
            <a:off x="6400800" y="2212848"/>
            <a:ext cx="5212080" cy="256032"/>
          </a:xfrm>
          <a:prstGeom prst="rect">
            <a:avLst/>
          </a:prstGeom>
          <a:noFill/>
          <a:ln/>
        </p:spPr>
        <p:txBody>
          <a:bodyPr wrap="square" lIns="0" tIns="0" rIns="0" bIns="0" rtlCol="0" anchor="t"/>
          <a:lstStyle/>
          <a:p>
            <a:pPr indent="0" marL="0">
              <a:buNone/>
            </a:pPr>
            <a:r>
              <a:rPr lang="en-US" sz="1200" dirty="0">
                <a:solidFill>
                  <a:schemeClr val="accent4"/>
                </a:solidFill>
              </a:rPr>
              <a:t>TimeSeriesSplit</a:t>
            </a:r>
            <a:endParaRPr lang="en-US" sz="1200" dirty="0"/>
          </a:p>
        </p:txBody>
      </p:sp>
      <p:sp>
        <p:nvSpPr>
          <p:cNvPr id="13" name="numero-121"/>
          <p:cNvSpPr/>
          <p:nvPr/>
        </p:nvSpPr>
        <p:spPr>
          <a:xfrm>
            <a:off x="5760720" y="2660904"/>
            <a:ext cx="457200" cy="457200"/>
          </a:xfrm>
          <a:prstGeom prst="ellipse">
            <a:avLst/>
          </a:prstGeom>
          <a:solidFill>
            <a:schemeClr val="accent1"/>
          </a:solidFill>
          <a:ln/>
        </p:spPr>
      </p:sp>
      <p:sp>
        <p:nvSpPr>
          <p:cNvPr id="14" name="texto-122"/>
          <p:cNvSpPr txBox="1"/>
          <p:nvPr/>
        </p:nvSpPr>
        <p:spPr>
          <a:xfrm>
            <a:off x="5760720" y="26609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5" name="texto-123"/>
          <p:cNvSpPr txBox="1"/>
          <p:nvPr/>
        </p:nvSpPr>
        <p:spPr>
          <a:xfrm>
            <a:off x="6400800" y="2624328"/>
            <a:ext cx="5212080" cy="292608"/>
          </a:xfrm>
          <a:prstGeom prst="rect">
            <a:avLst/>
          </a:prstGeom>
          <a:noFill/>
          <a:ln/>
        </p:spPr>
        <p:txBody>
          <a:bodyPr wrap="square" lIns="0" tIns="0" rIns="0" bIns="0" rtlCol="0" anchor="t"/>
          <a:lstStyle/>
          <a:p>
            <a:pPr indent="0" marL="0">
              <a:buNone/>
            </a:pPr>
            <a:r>
              <a:rPr lang="en-US" sz="1500" b="1" dirty="0">
                <a:solidFill>
                  <a:schemeClr val="tx1"/>
                </a:solidFill>
              </a:rPr>
              <a:t>Ajuste de hiperparámetros y registro de experimentos</a:t>
            </a:r>
            <a:endParaRPr lang="en-US" sz="1500" dirty="0"/>
          </a:p>
        </p:txBody>
      </p:sp>
      <p:sp>
        <p:nvSpPr>
          <p:cNvPr id="16" name="texto-124"/>
          <p:cNvSpPr txBox="1"/>
          <p:nvPr/>
        </p:nvSpPr>
        <p:spPr>
          <a:xfrm>
            <a:off x="6400800" y="2907792"/>
            <a:ext cx="5212080" cy="256032"/>
          </a:xfrm>
          <a:prstGeom prst="rect">
            <a:avLst/>
          </a:prstGeom>
          <a:noFill/>
          <a:ln/>
        </p:spPr>
        <p:txBody>
          <a:bodyPr wrap="square" lIns="0" tIns="0" rIns="0" bIns="0" rtlCol="0" anchor="t"/>
          <a:lstStyle/>
          <a:p>
            <a:pPr indent="0" marL="0">
              <a:buNone/>
            </a:pPr>
            <a:r>
              <a:rPr lang="en-US" sz="1200" dirty="0">
                <a:solidFill>
                  <a:schemeClr val="accent4"/>
                </a:solidFill>
              </a:rPr>
              <a:t>Optuna + MLflow</a:t>
            </a:r>
            <a:endParaRPr lang="en-US" sz="1200" dirty="0"/>
          </a:p>
        </p:txBody>
      </p:sp>
      <p:sp>
        <p:nvSpPr>
          <p:cNvPr id="17" name="numero-125"/>
          <p:cNvSpPr/>
          <p:nvPr/>
        </p:nvSpPr>
        <p:spPr>
          <a:xfrm>
            <a:off x="5760720" y="3355848"/>
            <a:ext cx="457200" cy="457200"/>
          </a:xfrm>
          <a:prstGeom prst="ellipse">
            <a:avLst/>
          </a:prstGeom>
          <a:solidFill>
            <a:schemeClr val="accent1"/>
          </a:solidFill>
          <a:ln/>
        </p:spPr>
      </p:sp>
      <p:sp>
        <p:nvSpPr>
          <p:cNvPr id="18" name="texto-126"/>
          <p:cNvSpPr txBox="1"/>
          <p:nvPr/>
        </p:nvSpPr>
        <p:spPr>
          <a:xfrm>
            <a:off x="5760720" y="33558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texto-127"/>
          <p:cNvSpPr txBox="1"/>
          <p:nvPr/>
        </p:nvSpPr>
        <p:spPr>
          <a:xfrm>
            <a:off x="6400800" y="3319272"/>
            <a:ext cx="5212080" cy="292608"/>
          </a:xfrm>
          <a:prstGeom prst="rect">
            <a:avLst/>
          </a:prstGeom>
          <a:noFill/>
          <a:ln/>
        </p:spPr>
        <p:txBody>
          <a:bodyPr wrap="square" lIns="0" tIns="0" rIns="0" bIns="0" rtlCol="0" anchor="t"/>
          <a:lstStyle/>
          <a:p>
            <a:pPr indent="0" marL="0">
              <a:buNone/>
            </a:pPr>
            <a:r>
              <a:rPr lang="en-US" sz="1500" b="1" dirty="0">
                <a:solidFill>
                  <a:schemeClr val="tx1"/>
                </a:solidFill>
              </a:rPr>
              <a:t>Calibración y umbral con escenarios de costo</a:t>
            </a:r>
            <a:endParaRPr lang="en-US" sz="1500" dirty="0"/>
          </a:p>
        </p:txBody>
      </p:sp>
      <p:sp>
        <p:nvSpPr>
          <p:cNvPr id="20" name="texto-128"/>
          <p:cNvSpPr txBox="1"/>
          <p:nvPr/>
        </p:nvSpPr>
        <p:spPr>
          <a:xfrm>
            <a:off x="6400800" y="3602736"/>
            <a:ext cx="5212080" cy="256032"/>
          </a:xfrm>
          <a:prstGeom prst="rect">
            <a:avLst/>
          </a:prstGeom>
          <a:noFill/>
          <a:ln/>
        </p:spPr>
        <p:txBody>
          <a:bodyPr wrap="square" lIns="0" tIns="0" rIns="0" bIns="0" rtlCol="0" anchor="t"/>
          <a:lstStyle/>
          <a:p>
            <a:pPr indent="0" marL="0">
              <a:buNone/>
            </a:pPr>
            <a:r>
              <a:rPr lang="en-US" sz="1200" dirty="0">
                <a:solidFill>
                  <a:schemeClr val="accent4"/>
                </a:solidFill>
              </a:rPr>
              <a:t>CalibratedClassifierCV</a:t>
            </a:r>
            <a:endParaRPr lang="en-US" sz="1200" dirty="0"/>
          </a:p>
        </p:txBody>
      </p:sp>
      <p:sp>
        <p:nvSpPr>
          <p:cNvPr id="21" name="numero-129"/>
          <p:cNvSpPr/>
          <p:nvPr/>
        </p:nvSpPr>
        <p:spPr>
          <a:xfrm>
            <a:off x="5760720" y="4050792"/>
            <a:ext cx="457200" cy="457200"/>
          </a:xfrm>
          <a:prstGeom prst="ellipse">
            <a:avLst/>
          </a:prstGeom>
          <a:solidFill>
            <a:schemeClr val="accent1"/>
          </a:solidFill>
          <a:ln/>
        </p:spPr>
      </p:sp>
      <p:sp>
        <p:nvSpPr>
          <p:cNvPr id="22" name="texto-130"/>
          <p:cNvSpPr txBox="1"/>
          <p:nvPr/>
        </p:nvSpPr>
        <p:spPr>
          <a:xfrm>
            <a:off x="5760720" y="405079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3" name="texto-131"/>
          <p:cNvSpPr txBox="1"/>
          <p:nvPr/>
        </p:nvSpPr>
        <p:spPr>
          <a:xfrm>
            <a:off x="6400800" y="4014216"/>
            <a:ext cx="5212080" cy="292608"/>
          </a:xfrm>
          <a:prstGeom prst="rect">
            <a:avLst/>
          </a:prstGeom>
          <a:noFill/>
          <a:ln/>
        </p:spPr>
        <p:txBody>
          <a:bodyPr wrap="square" lIns="0" tIns="0" rIns="0" bIns="0" rtlCol="0" anchor="t"/>
          <a:lstStyle/>
          <a:p>
            <a:pPr indent="0" marL="0">
              <a:buNone/>
            </a:pPr>
            <a:r>
              <a:rPr lang="en-US" sz="1500" b="1" dirty="0">
                <a:solidFill>
                  <a:schemeClr val="tx1"/>
                </a:solidFill>
              </a:rPr>
              <a:t>Interpretabilidad y análisis de errores</a:t>
            </a:r>
            <a:endParaRPr lang="en-US" sz="1500" dirty="0"/>
          </a:p>
        </p:txBody>
      </p:sp>
      <p:sp>
        <p:nvSpPr>
          <p:cNvPr id="24" name="texto-132"/>
          <p:cNvSpPr txBox="1"/>
          <p:nvPr/>
        </p:nvSpPr>
        <p:spPr>
          <a:xfrm>
            <a:off x="6400800" y="4297680"/>
            <a:ext cx="5212080" cy="256032"/>
          </a:xfrm>
          <a:prstGeom prst="rect">
            <a:avLst/>
          </a:prstGeom>
          <a:noFill/>
          <a:ln/>
        </p:spPr>
        <p:txBody>
          <a:bodyPr wrap="square" lIns="0" tIns="0" rIns="0" bIns="0" rtlCol="0" anchor="t"/>
          <a:lstStyle/>
          <a:p>
            <a:pPr indent="0" marL="0">
              <a:buNone/>
            </a:pPr>
            <a:r>
              <a:rPr lang="en-US" sz="1200" dirty="0">
                <a:solidFill>
                  <a:schemeClr val="accent4"/>
                </a:solidFill>
              </a:rPr>
              <a:t>SHAP</a:t>
            </a:r>
            <a:endParaRPr lang="en-US" sz="1200" dirty="0"/>
          </a:p>
        </p:txBody>
      </p:sp>
      <p:sp>
        <p:nvSpPr>
          <p:cNvPr id="25" name="numero-133"/>
          <p:cNvSpPr/>
          <p:nvPr/>
        </p:nvSpPr>
        <p:spPr>
          <a:xfrm>
            <a:off x="5760720" y="4745736"/>
            <a:ext cx="457200" cy="457200"/>
          </a:xfrm>
          <a:prstGeom prst="ellipse">
            <a:avLst/>
          </a:prstGeom>
          <a:solidFill>
            <a:schemeClr val="accent1"/>
          </a:solidFill>
          <a:ln/>
        </p:spPr>
      </p:sp>
      <p:sp>
        <p:nvSpPr>
          <p:cNvPr id="26" name="texto-134"/>
          <p:cNvSpPr txBox="1"/>
          <p:nvPr/>
        </p:nvSpPr>
        <p:spPr>
          <a:xfrm>
            <a:off x="5760720" y="474573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7" name="texto-135"/>
          <p:cNvSpPr txBox="1"/>
          <p:nvPr/>
        </p:nvSpPr>
        <p:spPr>
          <a:xfrm>
            <a:off x="6400800" y="4709160"/>
            <a:ext cx="5212080" cy="292608"/>
          </a:xfrm>
          <a:prstGeom prst="rect">
            <a:avLst/>
          </a:prstGeom>
          <a:noFill/>
          <a:ln/>
        </p:spPr>
        <p:txBody>
          <a:bodyPr wrap="square" lIns="0" tIns="0" rIns="0" bIns="0" rtlCol="0" anchor="t"/>
          <a:lstStyle/>
          <a:p>
            <a:pPr indent="0" marL="0">
              <a:buNone/>
            </a:pPr>
            <a:r>
              <a:rPr lang="en-US" sz="1500" b="1" dirty="0">
                <a:solidFill>
                  <a:schemeClr val="tx1"/>
                </a:solidFill>
              </a:rPr>
              <a:t>Segmentación de clientes</a:t>
            </a:r>
            <a:endParaRPr lang="en-US" sz="1500" dirty="0"/>
          </a:p>
        </p:txBody>
      </p:sp>
      <p:sp>
        <p:nvSpPr>
          <p:cNvPr id="28" name="texto-136"/>
          <p:cNvSpPr txBox="1"/>
          <p:nvPr/>
        </p:nvSpPr>
        <p:spPr>
          <a:xfrm>
            <a:off x="6400800" y="4992624"/>
            <a:ext cx="5212080" cy="256032"/>
          </a:xfrm>
          <a:prstGeom prst="rect">
            <a:avLst/>
          </a:prstGeom>
          <a:noFill/>
          <a:ln/>
        </p:spPr>
        <p:txBody>
          <a:bodyPr wrap="square" lIns="0" tIns="0" rIns="0" bIns="0" rtlCol="0" anchor="t"/>
          <a:lstStyle/>
          <a:p>
            <a:pPr indent="0" marL="0">
              <a:buNone/>
            </a:pPr>
            <a:r>
              <a:rPr lang="en-US" sz="1200" dirty="0">
                <a:solidFill>
                  <a:schemeClr val="accent4"/>
                </a:solidFill>
              </a:rPr>
              <a:t>K-Means + PCA / UMAP</a:t>
            </a:r>
            <a:endParaRPr lang="en-US" sz="1200" dirty="0"/>
          </a:p>
        </p:txBody>
      </p:sp>
      <p:sp>
        <p:nvSpPr>
          <p:cNvPr id="29" name="numero-137"/>
          <p:cNvSpPr/>
          <p:nvPr/>
        </p:nvSpPr>
        <p:spPr>
          <a:xfrm>
            <a:off x="5760720" y="5440680"/>
            <a:ext cx="457200" cy="457200"/>
          </a:xfrm>
          <a:prstGeom prst="ellipse">
            <a:avLst/>
          </a:prstGeom>
          <a:solidFill>
            <a:schemeClr val="accent1"/>
          </a:solidFill>
          <a:ln/>
        </p:spPr>
      </p:sp>
      <p:sp>
        <p:nvSpPr>
          <p:cNvPr id="30" name="texto-138"/>
          <p:cNvSpPr txBox="1"/>
          <p:nvPr/>
        </p:nvSpPr>
        <p:spPr>
          <a:xfrm>
            <a:off x="5760720" y="5440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1" name="texto-139"/>
          <p:cNvSpPr txBox="1"/>
          <p:nvPr/>
        </p:nvSpPr>
        <p:spPr>
          <a:xfrm>
            <a:off x="6400800" y="5404104"/>
            <a:ext cx="5212080" cy="292608"/>
          </a:xfrm>
          <a:prstGeom prst="rect">
            <a:avLst/>
          </a:prstGeom>
          <a:noFill/>
          <a:ln/>
        </p:spPr>
        <p:txBody>
          <a:bodyPr wrap="square" lIns="0" tIns="0" rIns="0" bIns="0" rtlCol="0" anchor="t"/>
          <a:lstStyle/>
          <a:p>
            <a:pPr indent="0" marL="0">
              <a:buNone/>
            </a:pPr>
            <a:r>
              <a:rPr lang="en-US" sz="1500" b="1" dirty="0">
                <a:solidFill>
                  <a:schemeClr val="tx1"/>
                </a:solidFill>
              </a:rPr>
              <a:t>Evaluación final única sobre test</a:t>
            </a:r>
            <a:endParaRPr lang="en-US" sz="1500" dirty="0"/>
          </a:p>
        </p:txBody>
      </p:sp>
      <p:sp>
        <p:nvSpPr>
          <p:cNvPr id="32" name="texto-140"/>
          <p:cNvSpPr txBox="1"/>
          <p:nvPr/>
        </p:nvSpPr>
        <p:spPr>
          <a:xfrm>
            <a:off x="6400800" y="5687568"/>
            <a:ext cx="5212080" cy="256032"/>
          </a:xfrm>
          <a:prstGeom prst="rect">
            <a:avLst/>
          </a:prstGeom>
          <a:noFill/>
          <a:ln/>
        </p:spPr>
        <p:txBody>
          <a:bodyPr wrap="square" lIns="0" tIns="0" rIns="0" bIns="0" rtlCol="0" anchor="t"/>
          <a:lstStyle/>
          <a:p>
            <a:pPr indent="0" marL="0">
              <a:buNone/>
            </a:pPr>
            <a:r>
              <a:rPr lang="en-US" sz="1200" dirty="0">
                <a:solidFill>
                  <a:schemeClr val="accent4"/>
                </a:solidFill>
              </a:rPr>
              <a:t>Test sigue sin usarse</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8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lIns="0" tIns="0" rIns="0" bIns="0" rtlCol="0" anchor="ctr"/>
          <a:lstStyle/>
          <a:p>
            <a:pPr algn="l" indent="0" marL="0">
              <a:buNone/>
            </a:pPr>
            <a:r>
              <a:rPr lang="en-US" sz="3600" b="1" dirty="0">
                <a:solidFill>
                  <a:schemeClr val="bg1"/>
                </a:solidFill>
              </a:rPr>
              <a:t>Qué nos llevamos del Trabajo Parcial</a:t>
            </a:r>
            <a:endParaRPr lang="en-US" sz="3600" dirty="0"/>
          </a:p>
        </p:txBody>
      </p:sp>
      <p:sp>
        <p:nvSpPr>
          <p:cNvPr id="3" name="tarjeta-141"/>
          <p:cNvSpPr/>
          <p:nvPr/>
        </p:nvSpPr>
        <p:spPr>
          <a:xfrm>
            <a:off x="731520" y="1828800"/>
            <a:ext cx="3383280" cy="2057400"/>
          </a:xfrm>
          <a:prstGeom prst="roundRect">
            <a:avLst>
              <a:gd name="adj" fmla="val 3556"/>
            </a:avLst>
          </a:prstGeom>
          <a:solidFill>
            <a:schemeClr val="bg1">
              <a:alpha val="10000"/>
            </a:schemeClr>
          </a:solidFill>
          <a:ln/>
        </p:spPr>
      </p:sp>
      <p:sp>
        <p:nvSpPr>
          <p:cNvPr id="4" name="texto-142"/>
          <p:cNvSpPr txBox="1"/>
          <p:nvPr/>
        </p:nvSpPr>
        <p:spPr>
          <a:xfrm>
            <a:off x="960120" y="2011680"/>
            <a:ext cx="2926080" cy="54864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Sí se puede ordenar</a:t>
            </a:r>
            <a:endParaRPr lang="en-US" sz="2000" dirty="0"/>
          </a:p>
        </p:txBody>
      </p:sp>
      <p:sp>
        <p:nvSpPr>
          <p:cNvPr id="5" name="texto-143"/>
          <p:cNvSpPr txBox="1"/>
          <p:nvPr/>
        </p:nvSpPr>
        <p:spPr>
          <a:xfrm>
            <a:off x="960120" y="2651760"/>
            <a:ext cx="2926080" cy="1463040"/>
          </a:xfrm>
          <a:prstGeom prst="rect">
            <a:avLst/>
          </a:prstGeom>
          <a:noFill/>
          <a:ln/>
        </p:spPr>
        <p:txBody>
          <a:bodyPr wrap="square" lIns="0" tIns="0" rIns="0" bIns="0" rtlCol="0" anchor="t"/>
          <a:lstStyle/>
          <a:p>
            <a:pPr indent="0" marL="0">
              <a:buNone/>
            </a:pPr>
            <a:r>
              <a:rPr lang="en-US" sz="1500" dirty="0">
                <a:solidFill>
                  <a:schemeClr val="bg1"/>
                </a:solidFill>
              </a:rPr>
              <a:t>Dentro de un mismo periodo, el modelo capta 63% de los suscriptores llamando al 20%.</a:t>
            </a:r>
            <a:endParaRPr lang="en-US" sz="1500" dirty="0"/>
          </a:p>
        </p:txBody>
      </p:sp>
      <p:sp>
        <p:nvSpPr>
          <p:cNvPr id="6" name="tarjeta-144"/>
          <p:cNvSpPr/>
          <p:nvPr/>
        </p:nvSpPr>
        <p:spPr>
          <a:xfrm>
            <a:off x="4389120" y="1828800"/>
            <a:ext cx="3383280" cy="2057400"/>
          </a:xfrm>
          <a:prstGeom prst="roundRect">
            <a:avLst>
              <a:gd name="adj" fmla="val 3556"/>
            </a:avLst>
          </a:prstGeom>
          <a:solidFill>
            <a:schemeClr val="bg1">
              <a:alpha val="10000"/>
            </a:schemeClr>
          </a:solidFill>
          <a:ln/>
        </p:spPr>
      </p:sp>
      <p:sp>
        <p:nvSpPr>
          <p:cNvPr id="7" name="texto-145"/>
          <p:cNvSpPr txBox="1"/>
          <p:nvPr/>
        </p:nvSpPr>
        <p:spPr>
          <a:xfrm>
            <a:off x="4617720" y="2011680"/>
            <a:ext cx="2926080" cy="54864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Sin atajos</a:t>
            </a:r>
            <a:endParaRPr lang="en-US" sz="2000" dirty="0"/>
          </a:p>
        </p:txBody>
      </p:sp>
      <p:sp>
        <p:nvSpPr>
          <p:cNvPr id="8" name="texto-146"/>
          <p:cNvSpPr txBox="1"/>
          <p:nvPr/>
        </p:nvSpPr>
        <p:spPr>
          <a:xfrm>
            <a:off x="4617720" y="2651760"/>
            <a:ext cx="2926080" cy="1463040"/>
          </a:xfrm>
          <a:prstGeom prst="rect">
            <a:avLst/>
          </a:prstGeom>
          <a:noFill/>
          <a:ln/>
        </p:spPr>
        <p:txBody>
          <a:bodyPr wrap="square" lIns="0" tIns="0" rIns="0" bIns="0" rtlCol="0" anchor="t"/>
          <a:lstStyle/>
          <a:p>
            <a:pPr indent="0" marL="0">
              <a:buNone/>
            </a:pPr>
            <a:r>
              <a:rPr lang="en-US" sz="1500" dirty="0">
                <a:solidFill>
                  <a:schemeClr val="bg1"/>
                </a:solidFill>
              </a:rPr>
              <a:t>duration queda fuera: el modelo usa solo lo que se sabe antes de llamar.</a:t>
            </a:r>
            <a:endParaRPr lang="en-US" sz="1500" dirty="0"/>
          </a:p>
        </p:txBody>
      </p:sp>
      <p:sp>
        <p:nvSpPr>
          <p:cNvPr id="9" name="tarjeta-147"/>
          <p:cNvSpPr/>
          <p:nvPr/>
        </p:nvSpPr>
        <p:spPr>
          <a:xfrm>
            <a:off x="8046720" y="1828800"/>
            <a:ext cx="3383280" cy="2057400"/>
          </a:xfrm>
          <a:prstGeom prst="roundRect">
            <a:avLst>
              <a:gd name="adj" fmla="val 3556"/>
            </a:avLst>
          </a:prstGeom>
          <a:solidFill>
            <a:schemeClr val="bg1">
              <a:alpha val="10000"/>
            </a:schemeClr>
          </a:solidFill>
          <a:ln/>
        </p:spPr>
      </p:sp>
      <p:sp>
        <p:nvSpPr>
          <p:cNvPr id="10" name="texto-148"/>
          <p:cNvSpPr txBox="1"/>
          <p:nvPr/>
        </p:nvSpPr>
        <p:spPr>
          <a:xfrm>
            <a:off x="8275320" y="2011680"/>
            <a:ext cx="2926080" cy="54864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Con un límite claro</a:t>
            </a:r>
            <a:endParaRPr lang="en-US" sz="2000" dirty="0"/>
          </a:p>
        </p:txBody>
      </p:sp>
      <p:sp>
        <p:nvSpPr>
          <p:cNvPr id="11" name="texto-149"/>
          <p:cNvSpPr txBox="1"/>
          <p:nvPr/>
        </p:nvSpPr>
        <p:spPr>
          <a:xfrm>
            <a:off x="8275320" y="2651760"/>
            <a:ext cx="2926080" cy="1463040"/>
          </a:xfrm>
          <a:prstGeom prst="rect">
            <a:avLst/>
          </a:prstGeom>
          <a:noFill/>
          <a:ln/>
        </p:spPr>
        <p:txBody>
          <a:bodyPr wrap="square" lIns="0" tIns="0" rIns="0" bIns="0" rtlCol="0" anchor="t"/>
          <a:lstStyle/>
          <a:p>
            <a:pPr indent="0" marL="0">
              <a:buNone/>
            </a:pPr>
            <a:r>
              <a:rPr lang="en-US" sz="1500" dirty="0">
                <a:solidFill>
                  <a:schemeClr val="bg1"/>
                </a:solidFill>
              </a:rPr>
              <a:t>Entre periodos la ventaja cae a 34%. Resolverlo es el objetivo del TF1.</a:t>
            </a:r>
            <a:endParaRPr lang="en-US" sz="1500" dirty="0"/>
          </a:p>
        </p:txBody>
      </p:sp>
      <p:sp>
        <p:nvSpPr>
          <p:cNvPr id="12" name="texto-150"/>
          <p:cNvSpPr txBox="1"/>
          <p:nvPr/>
        </p:nvSpPr>
        <p:spPr>
          <a:xfrm>
            <a:off x="731520" y="4343400"/>
            <a:ext cx="10698480" cy="822960"/>
          </a:xfrm>
          <a:prstGeom prst="rect">
            <a:avLst/>
          </a:prstGeom>
          <a:noFill/>
          <a:ln/>
        </p:spPr>
        <p:txBody>
          <a:bodyPr wrap="square" lIns="0" tIns="0" rIns="0" bIns="0" rtlCol="0" anchor="t"/>
          <a:lstStyle/>
          <a:p>
            <a:pPr indent="0" marL="0">
              <a:spcAft>
                <a:spcPts val="600"/>
              </a:spcAft>
              <a:buNone/>
            </a:pPr>
            <a:r>
              <a:rPr lang="en-US" sz="1600" b="1" dirty="0">
                <a:solidFill>
                  <a:schemeClr val="bg1"/>
                </a:solidFill>
              </a:rPr>
              <a:t>Repositorio: </a:t>
            </a:r>
            <a:pPr indent="0" marL="0">
              <a:spcAft>
                <a:spcPts val="600"/>
              </a:spcAft>
              <a:buNone/>
            </a:pPr>
            <a:r>
              <a:rPr lang="en-US" sz="1600" u="sng" dirty="0">
                <a:solidFill>
                  <a:schemeClr val="bg1"/>
                </a:solidFill>
                <a:hlinkClick r:id="rId1" invalidUrl="" action="" tgtFrame="" tooltip="" history="1" highlightClick="0" endSnd="0">
                  <a:extLst>
                    <a:ext uri="{A12FA001-AC4F-418D-AE19-62706E023703}">
                      <ahyp:hlinkClr xmlns:ahyp="http://schemas.microsoft.com/office/drawing/2018/hyperlinkcolor" val="tx"/>
                    </a:ext>
                  </a:extLst>
                </a:hlinkClick>
              </a:rPr>
              <a:t>github.com/Ravit18/data-mining-tools-tp</a:t>
            </a:r>
            <a:endParaRPr lang="en-US" sz="1600" dirty="0"/>
          </a:p>
          <a:p>
            <a:pPr indent="0" marL="0">
              <a:spcAft>
                <a:spcPts val="600"/>
              </a:spcAft>
              <a:buNone/>
            </a:pPr>
            <a:r>
              <a:rPr lang="en-US" sz="1600" b="1" dirty="0">
                <a:solidFill>
                  <a:schemeClr val="bg1"/>
                </a:solidFill>
              </a:rPr>
              <a:t>Aplicación: </a:t>
            </a:r>
            <a:pPr indent="0" marL="0">
              <a:spcAft>
                <a:spcPts val="600"/>
              </a:spcAft>
              <a:buNone/>
            </a:pPr>
            <a:r>
              <a:rPr lang="en-US" sz="1600" u="sng" dirty="0">
                <a:solidFill>
                  <a:schemeClr val="bg1"/>
                </a:solidFill>
                <a:hlinkClick r:id="rId2" invalidUrl="" action="" tgtFrame="" tooltip="" history="1" highlightClick="0" endSnd="0">
                  <a:extLst>
                    <a:ext uri="{A12FA001-AC4F-418D-AE19-62706E023703}">
                      <ahyp:hlinkClr xmlns:ahyp="http://schemas.microsoft.com/office/drawing/2018/hyperlinkcolor" val="tx"/>
                    </a:ext>
                  </a:extLst>
                </a:hlinkClick>
              </a:rPr>
              <a:t>data-mining-tools-tp.streamlit.app</a:t>
            </a:r>
            <a:endParaRPr lang="en-US" sz="1600" dirty="0"/>
          </a:p>
        </p:txBody>
      </p:sp>
      <p:sp>
        <p:nvSpPr>
          <p:cNvPr id="13" name="texto-151"/>
          <p:cNvSpPr txBox="1"/>
          <p:nvPr/>
        </p:nvSpPr>
        <p:spPr>
          <a:xfrm>
            <a:off x="731520" y="5486400"/>
            <a:ext cx="10698480" cy="457200"/>
          </a:xfrm>
          <a:prstGeom prst="rect">
            <a:avLst/>
          </a:prstGeom>
          <a:noFill/>
          <a:ln/>
        </p:spPr>
        <p:txBody>
          <a:bodyPr wrap="square" lIns="0" tIns="0" rIns="0" bIns="0" rtlCol="0" anchor="t"/>
          <a:lstStyle/>
          <a:p>
            <a:pPr indent="0" marL="0">
              <a:buNone/>
            </a:pPr>
            <a:r>
              <a:rPr lang="en-US" sz="1800" b="1" dirty="0">
                <a:solidFill>
                  <a:schemeClr val="bg2"/>
                </a:solidFill>
              </a:rPr>
              <a:t>Gracias. ¿Preguntas?</a:t>
            </a:r>
            <a:endParaRPr lang="en-US" sz="1800" dirty="0"/>
          </a:p>
        </p:txBody>
      </p:sp>
    </p:spTree>
  </p:cSld>
  <p:clrMapOvr>
    <a:masterClrMapping/>
  </p:clrMapOvr>
</p:sld>
</file>

<file path=ppt/theme/theme1.xml><?xml version="1.0" encoding="utf-8"?>
<a:theme xmlns:a="http://schemas.openxmlformats.org/drawingml/2006/main" name="Depositos TP1">
  <a:themeElements>
    <a:clrScheme name="Depositos TP1">
      <a:dk1>
        <a:srgbClr val="1B2A33"/>
      </a:dk1>
      <a:lt1>
        <a:srgbClr val="FFFFFF"/>
      </a:lt1>
      <a:dk2>
        <a:srgbClr val="0B3C49"/>
      </a:dk2>
      <a:lt2>
        <a:srgbClr val="EDF3F4"/>
      </a:lt2>
      <a:accent1>
        <a:srgbClr val="1C7C8C"/>
      </a:accent1>
      <a:accent2>
        <a:srgbClr val="E07A2F"/>
      </a:accent2>
      <a:accent3>
        <a:srgbClr val="4C72B0"/>
      </a:accent3>
      <a:accent4>
        <a:srgbClr val="6B7F86"/>
      </a:accent4>
      <a:accent5>
        <a:srgbClr val="B8402F"/>
      </a:accent5>
      <a:accent6>
        <a:srgbClr val="2E7D5B"/>
      </a:accent6>
      <a:hlink>
        <a:srgbClr val="1C7C8C"/>
      </a:hlink>
      <a:folHlink>
        <a:srgbClr val="6B7F86"/>
      </a:folHlink>
    </a:clrScheme>
    <a:fontScheme name="Depositos TP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Priorización de clientes para depósitos a plazo - TP1</dc:title>
  <dc:subject>PptxGenJS Presentation</dc:subject>
  <dc:creator>Ricardo Ambrocio, Aaron Felices</dc:creator>
  <cp:lastModifiedBy>Ricardo Ambrocio, Aaron Felices</cp:lastModifiedBy>
  <cp:revision>1</cp:revision>
  <dcterms:created xsi:type="dcterms:W3CDTF">2026-10-05T21:28:07Z</dcterms:created>
  <dcterms:modified xsi:type="dcterms:W3CDTF">2026-10-05T21:28:07Z</dcterms:modified>
</cp:coreProperties>
</file>